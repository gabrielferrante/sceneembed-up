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7"/>
  </p:notesMasterIdLst>
  <p:sldIdLst>
    <p:sldId id="256" r:id="rId4"/>
    <p:sldId id="257" r:id="rId5"/>
    <p:sldId id="258" r:id="rId6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 /><Relationship Id="rId9" Type="http://schemas.openxmlformats.org/officeDocument/2006/relationships/tableStyles" Target="tableStyles.xml" /><Relationship Id="rId1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109249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73850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5178231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54422618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9157132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486644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73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09433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54384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0476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6085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52530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FB40B8-C03E-A3D8-FACF-85666CF6122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D43F4F-CC22-01F2-AB20-CFA9F204409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774434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3826861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8604439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807078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48814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78958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1143152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579403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236345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961526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1747314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9442976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06301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36071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919376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43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5510962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1996410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7967646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231043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8710536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631557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9892034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4831254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9942120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63805999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0892765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9040309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041171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0961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879070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8564929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8777118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290594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00147622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955033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38707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98316175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2750808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0312939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2906431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5752022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25341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6762897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0767326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4055393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6457180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015503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2893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3101425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287332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497544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422300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926213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823392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314264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9960579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130637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482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112695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9027041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66122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756382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150227" name=""/>
          <p:cNvSpPr/>
          <p:nvPr/>
        </p:nvSpPr>
        <p:spPr bwMode="auto">
          <a:xfrm rot="0" flipH="0" flipV="0">
            <a:off x="2056338" y="587332"/>
            <a:ext cx="1651897" cy="1002980"/>
          </a:xfrm>
          <a:prstGeom prst="rect">
            <a:avLst/>
          </a:prstGeom>
          <a:gradFill>
            <a:gsLst>
              <a:gs pos="19000">
                <a:schemeClr val="accent1"/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DINOV3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162626719" name=""/>
          <p:cNvSpPr/>
          <p:nvPr/>
        </p:nvSpPr>
        <p:spPr bwMode="auto">
          <a:xfrm rot="0" flipH="0" flipV="0">
            <a:off x="2090133" y="5052248"/>
            <a:ext cx="1651897" cy="1022001"/>
          </a:xfrm>
          <a:prstGeom prst="rect">
            <a:avLst/>
          </a:prstGeom>
          <a:gradFill>
            <a:gsLst>
              <a:gs pos="19000">
                <a:schemeClr val="accent2">
                  <a:lumMod val="60000"/>
                  <a:lumOff val="4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accent2">
                <a:lumMod val="60000"/>
                <a:lumOff val="40000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QWEN3 Embeddings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1678673881" name=""/>
          <p:cNvSpPr/>
          <p:nvPr/>
        </p:nvSpPr>
        <p:spPr bwMode="auto">
          <a:xfrm rot="0" flipH="0" flipV="0">
            <a:off x="2826257" y="2235788"/>
            <a:ext cx="179649" cy="668849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592970918" name=""/>
          <p:cNvSpPr txBox="1"/>
          <p:nvPr/>
        </p:nvSpPr>
        <p:spPr bwMode="auto">
          <a:xfrm rot="0" flipH="0" flipV="0">
            <a:off x="2301960" y="2904637"/>
            <a:ext cx="1279019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Batch, 768</a:t>
            </a:r>
            <a:endParaRPr sz="1400"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(CLS Token / global feat)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794264481" name=""/>
          <p:cNvSpPr/>
          <p:nvPr/>
        </p:nvSpPr>
        <p:spPr bwMode="auto">
          <a:xfrm rot="0" flipH="0" flipV="0">
            <a:off x="5808329" y="646749"/>
            <a:ext cx="1450413" cy="884145"/>
          </a:xfrm>
          <a:prstGeom prst="rect">
            <a:avLst/>
          </a:prstGeom>
          <a:solidFill>
            <a:srgbClr val="FF0000">
              <a:alpha val="44999"/>
            </a:srgbClr>
          </a:solidFill>
          <a:ln w="19049" cap="flat" cmpd="sng" algn="ctr">
            <a:solidFill>
              <a:schemeClr val="tx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UPSAMPLER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1218502262" name=""/>
          <p:cNvSpPr txBox="1"/>
          <p:nvPr/>
        </p:nvSpPr>
        <p:spPr bwMode="auto">
          <a:xfrm rot="0" flipH="0" flipV="0">
            <a:off x="7659883" y="1608816"/>
            <a:ext cx="191562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768,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H, W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57714444" name=""/>
          <p:cNvSpPr/>
          <p:nvPr/>
        </p:nvSpPr>
        <p:spPr bwMode="auto">
          <a:xfrm rot="0" flipH="0" flipV="0">
            <a:off x="122352" y="2322191"/>
            <a:ext cx="1684546" cy="2290630"/>
          </a:xfrm>
          <a:prstGeom prst="cube">
            <a:avLst>
              <a:gd name="adj" fmla="val 25000"/>
            </a:avLst>
          </a:prstGeom>
          <a:gradFill>
            <a:gsLst>
              <a:gs pos="0">
                <a:schemeClr val="accent1">
                  <a:alpha val="99999"/>
                </a:schemeClr>
              </a:gs>
              <a:gs pos="100000">
                <a:schemeClr val="accent2">
                  <a:lumMod val="60000"/>
                  <a:lumOff val="40000"/>
                  <a:alpha val="99999"/>
                </a:schemeClr>
              </a:gs>
            </a:gsLst>
            <a:lin ang="0" scaled="1"/>
          </a:gradFill>
          <a:ln w="12700" cap="flat" cmpd="sng" algn="ctr">
            <a:solidFill>
              <a:schemeClr val="accent1">
                <a:shade val="50000"/>
                <a:alpha val="84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6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Images</a:t>
            </a:r>
            <a:endParaRPr sz="1600"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6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And </a:t>
            </a:r>
            <a:endParaRPr sz="1600"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6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Captions</a:t>
            </a:r>
            <a:endParaRPr sz="1600" b="1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6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(Train/Val)</a:t>
            </a:r>
            <a:endParaRPr sz="18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027909168" name=""/>
          <p:cNvSpPr/>
          <p:nvPr/>
        </p:nvSpPr>
        <p:spPr bwMode="auto">
          <a:xfrm rot="0" flipH="0" flipV="0">
            <a:off x="4470364" y="5054505"/>
            <a:ext cx="1186737" cy="1017914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57605480" name=""/>
          <p:cNvSpPr txBox="1"/>
          <p:nvPr/>
        </p:nvSpPr>
        <p:spPr bwMode="auto">
          <a:xfrm rot="0" flipH="0" flipV="0">
            <a:off x="3845800" y="6170234"/>
            <a:ext cx="229828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Num_texts, 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676411353" name=""/>
          <p:cNvSpPr/>
          <p:nvPr/>
        </p:nvSpPr>
        <p:spPr bwMode="auto">
          <a:xfrm rot="5400000" flipH="0" flipV="0">
            <a:off x="2695521" y="1822860"/>
            <a:ext cx="47965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67214887" name=""/>
          <p:cNvSpPr/>
          <p:nvPr/>
        </p:nvSpPr>
        <p:spPr bwMode="auto">
          <a:xfrm rot="0" flipH="0" flipV="0">
            <a:off x="8046020" y="509443"/>
            <a:ext cx="1185838" cy="1080868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38263443" name=""/>
          <p:cNvSpPr/>
          <p:nvPr/>
        </p:nvSpPr>
        <p:spPr bwMode="auto">
          <a:xfrm rot="0" flipH="0" flipV="0">
            <a:off x="3832084" y="981844"/>
            <a:ext cx="507088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702293801" name=""/>
          <p:cNvSpPr/>
          <p:nvPr/>
        </p:nvSpPr>
        <p:spPr bwMode="auto">
          <a:xfrm rot="0" flipH="0" flipV="0">
            <a:off x="7406340" y="981845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19734309" name=""/>
          <p:cNvSpPr txBox="1"/>
          <p:nvPr/>
        </p:nvSpPr>
        <p:spPr bwMode="auto">
          <a:xfrm rot="0" flipH="0" flipV="0">
            <a:off x="5573741" y="1530894"/>
            <a:ext cx="1919589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E.g. AnyUP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064375556" name=""/>
          <p:cNvSpPr/>
          <p:nvPr/>
        </p:nvSpPr>
        <p:spPr bwMode="auto">
          <a:xfrm rot="0" flipH="0" flipV="0">
            <a:off x="9933913" y="571471"/>
            <a:ext cx="1450413" cy="884144"/>
          </a:xfrm>
          <a:prstGeom prst="rect">
            <a:avLst/>
          </a:prstGeom>
          <a:solidFill>
            <a:schemeClr val="accent6">
              <a:alpha val="66000"/>
            </a:schemeClr>
          </a:solidFill>
          <a:ln w="19049" cap="flat" cmpd="sng" algn="ctr">
            <a:solidFill>
              <a:schemeClr val="tx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AVG Pooling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2136268664" name=""/>
          <p:cNvSpPr txBox="1"/>
          <p:nvPr/>
        </p:nvSpPr>
        <p:spPr bwMode="auto">
          <a:xfrm rot="0" flipH="0" flipV="0">
            <a:off x="9614687" y="3194293"/>
            <a:ext cx="190662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768, 32, 32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980980337" name=""/>
          <p:cNvSpPr/>
          <p:nvPr/>
        </p:nvSpPr>
        <p:spPr bwMode="auto">
          <a:xfrm rot="0" flipH="0" flipV="0">
            <a:off x="9312555" y="958761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34288953" name=""/>
          <p:cNvSpPr/>
          <p:nvPr/>
        </p:nvSpPr>
        <p:spPr bwMode="auto">
          <a:xfrm rot="0" flipH="0" flipV="0">
            <a:off x="10317821" y="2113427"/>
            <a:ext cx="682594" cy="1080867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875616308" name=""/>
          <p:cNvSpPr/>
          <p:nvPr/>
        </p:nvSpPr>
        <p:spPr bwMode="auto">
          <a:xfrm rot="5399976" flipH="0" flipV="0">
            <a:off x="10405576" y="1715762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85756816" name=""/>
          <p:cNvSpPr/>
          <p:nvPr/>
        </p:nvSpPr>
        <p:spPr bwMode="auto">
          <a:xfrm rot="0" flipH="0" flipV="0">
            <a:off x="3859516" y="5472133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45827845" name=""/>
          <p:cNvSpPr/>
          <p:nvPr/>
        </p:nvSpPr>
        <p:spPr bwMode="auto">
          <a:xfrm rot="0" flipH="0" flipV="0">
            <a:off x="7806445" y="5168043"/>
            <a:ext cx="2322902" cy="1307350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22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Aligner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(Latent Space Projection)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916087404" name=""/>
          <p:cNvSpPr/>
          <p:nvPr/>
        </p:nvSpPr>
        <p:spPr bwMode="auto">
          <a:xfrm rot="0" flipH="0" flipV="0">
            <a:off x="4518415" y="738536"/>
            <a:ext cx="593368" cy="668848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10810678" name=""/>
          <p:cNvSpPr/>
          <p:nvPr/>
        </p:nvSpPr>
        <p:spPr bwMode="auto">
          <a:xfrm rot="0" flipH="0" flipV="0">
            <a:off x="5233206" y="997705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582496041" name=""/>
          <p:cNvSpPr txBox="1"/>
          <p:nvPr/>
        </p:nvSpPr>
        <p:spPr bwMode="auto">
          <a:xfrm rot="0" flipH="0" flipV="0">
            <a:off x="4178289" y="1590311"/>
            <a:ext cx="1290538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Patch Grid 2D </a:t>
            </a:r>
            <a:endParaRPr lang="en-US" sz="1400" b="0" i="0" u="none" strike="noStrike" cap="none" spc="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(B, C, H, W)</a:t>
            </a:r>
            <a:endParaRPr lang="en-US" sz="1400" b="0" i="0" u="none" strike="noStrike" cap="none" spc="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(local feat)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755078422" name=""/>
          <p:cNvSpPr/>
          <p:nvPr/>
        </p:nvSpPr>
        <p:spPr bwMode="auto">
          <a:xfrm rot="10800000" flipH="0" flipV="0">
            <a:off x="9680369" y="2653860"/>
            <a:ext cx="507087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448845057" name=""/>
          <p:cNvSpPr/>
          <p:nvPr/>
        </p:nvSpPr>
        <p:spPr bwMode="auto">
          <a:xfrm rot="0" flipH="0" flipV="0">
            <a:off x="8225342" y="3636517"/>
            <a:ext cx="1520078" cy="803486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99495631" name=""/>
          <p:cNvSpPr txBox="1"/>
          <p:nvPr/>
        </p:nvSpPr>
        <p:spPr bwMode="auto">
          <a:xfrm rot="0" flipH="0" flipV="0">
            <a:off x="8029007" y="4460242"/>
            <a:ext cx="1912747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1024, 768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930084244" name=""/>
          <p:cNvSpPr/>
          <p:nvPr/>
        </p:nvSpPr>
        <p:spPr bwMode="auto">
          <a:xfrm rot="0" flipH="0" flipV="0">
            <a:off x="8532155" y="2404617"/>
            <a:ext cx="1053713" cy="680718"/>
          </a:xfrm>
          <a:prstGeom prst="rect">
            <a:avLst/>
          </a:prstGeom>
          <a:solidFill>
            <a:schemeClr val="accent6">
              <a:alpha val="66000"/>
            </a:schemeClr>
          </a:solidFill>
          <a:ln w="19049" cap="flat" cmpd="sng" algn="ctr">
            <a:solidFill>
              <a:schemeClr val="tx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Reshape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1289048764" name=""/>
          <p:cNvSpPr/>
          <p:nvPr/>
        </p:nvSpPr>
        <p:spPr bwMode="auto">
          <a:xfrm rot="5400000" flipH="0" flipV="0">
            <a:off x="8872301" y="3280041"/>
            <a:ext cx="373420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133519105" name=""/>
          <p:cNvSpPr/>
          <p:nvPr/>
        </p:nvSpPr>
        <p:spPr bwMode="auto">
          <a:xfrm rot="5400000" flipH="0" flipV="0">
            <a:off x="8872301" y="4860996"/>
            <a:ext cx="373420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718732021" name=""/>
          <p:cNvSpPr/>
          <p:nvPr/>
        </p:nvSpPr>
        <p:spPr bwMode="auto">
          <a:xfrm rot="0" flipH="0" flipV="0">
            <a:off x="6051872" y="5472133"/>
            <a:ext cx="156470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11152787" name=""/>
          <p:cNvSpPr/>
          <p:nvPr/>
        </p:nvSpPr>
        <p:spPr bwMode="auto">
          <a:xfrm rot="12225393" flipH="0" flipV="0">
            <a:off x="7187484" y="3690888"/>
            <a:ext cx="858189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312976116" name=""/>
          <p:cNvSpPr/>
          <p:nvPr/>
        </p:nvSpPr>
        <p:spPr bwMode="auto">
          <a:xfrm rot="17960870" flipH="0" flipV="0">
            <a:off x="5136136" y="4483203"/>
            <a:ext cx="79560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68985092" name=""/>
          <p:cNvSpPr/>
          <p:nvPr/>
        </p:nvSpPr>
        <p:spPr bwMode="auto">
          <a:xfrm rot="0" flipH="0" flipV="0">
            <a:off x="5766556" y="2322191"/>
            <a:ext cx="1241985" cy="1501257"/>
          </a:xfrm>
          <a:prstGeom prst="can">
            <a:avLst>
              <a:gd name="adj" fmla="val 25000"/>
            </a:avLst>
          </a:prstGeom>
          <a:solidFill>
            <a:schemeClr val="bg2">
              <a:lumMod val="75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>
                <a:solidFill>
                  <a:schemeClr val="tx1"/>
                </a:solidFill>
              </a:rPr>
              <a:t>Tensor’s Disk</a:t>
            </a:r>
            <a:endParaRPr/>
          </a:p>
        </p:txBody>
      </p:sp>
      <p:sp>
        <p:nvSpPr>
          <p:cNvPr id="784019662" name=""/>
          <p:cNvSpPr txBox="1"/>
          <p:nvPr/>
        </p:nvSpPr>
        <p:spPr bwMode="auto">
          <a:xfrm rot="0" flipH="0" flipV="0">
            <a:off x="5418394" y="3782004"/>
            <a:ext cx="1938308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Shards </a:t>
            </a:r>
            <a:endParaRPr sz="1400"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(7,8Gb per shard)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21928989" name=""/>
          <p:cNvSpPr/>
          <p:nvPr/>
        </p:nvSpPr>
        <p:spPr bwMode="auto">
          <a:xfrm rot="17960870" flipH="0" flipV="0">
            <a:off x="1165456" y="1694529"/>
            <a:ext cx="1032126" cy="17250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842623598" name=""/>
          <p:cNvSpPr/>
          <p:nvPr/>
        </p:nvSpPr>
        <p:spPr bwMode="auto">
          <a:xfrm rot="3266977" flipH="0" flipV="0">
            <a:off x="997684" y="5065538"/>
            <a:ext cx="1112151" cy="17250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pic>
        <p:nvPicPr>
          <p:cNvPr id="194949135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090133" y="608476"/>
            <a:ext cx="350285" cy="350285"/>
          </a:xfrm>
          <a:prstGeom prst="rect">
            <a:avLst/>
          </a:prstGeom>
        </p:spPr>
      </p:pic>
      <p:pic>
        <p:nvPicPr>
          <p:cNvPr id="200461996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126817" y="5054505"/>
            <a:ext cx="350284" cy="350284"/>
          </a:xfrm>
          <a:prstGeom prst="rect">
            <a:avLst/>
          </a:prstGeom>
        </p:spPr>
      </p:pic>
      <p:pic>
        <p:nvPicPr>
          <p:cNvPr id="818492348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7847511" y="5229647"/>
            <a:ext cx="362991" cy="36299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44823" name=""/>
          <p:cNvSpPr/>
          <p:nvPr/>
        </p:nvSpPr>
        <p:spPr bwMode="auto">
          <a:xfrm rot="0" flipH="0" flipV="0">
            <a:off x="1825935" y="1251902"/>
            <a:ext cx="1604841" cy="990718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Affine linear transformation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320432614" name=""/>
          <p:cNvSpPr/>
          <p:nvPr/>
        </p:nvSpPr>
        <p:spPr bwMode="auto">
          <a:xfrm rot="0" flipH="0" flipV="0">
            <a:off x="351870" y="979648"/>
            <a:ext cx="624199" cy="544507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01019564" name=""/>
          <p:cNvSpPr/>
          <p:nvPr/>
        </p:nvSpPr>
        <p:spPr bwMode="auto">
          <a:xfrm rot="0" flipH="0" flipV="0">
            <a:off x="309847" y="1807083"/>
            <a:ext cx="728381" cy="480782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63940880" name=""/>
          <p:cNvSpPr/>
          <p:nvPr/>
        </p:nvSpPr>
        <p:spPr bwMode="auto">
          <a:xfrm rot="0" flipH="0" flipV="0">
            <a:off x="267826" y="812426"/>
            <a:ext cx="812426" cy="1624852"/>
          </a:xfrm>
          <a:prstGeom prst="flowChartAlternateProcess">
            <a:avLst/>
          </a:prstGeom>
          <a:noFill/>
          <a:ln w="1904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53706307" name=""/>
          <p:cNvSpPr txBox="1"/>
          <p:nvPr/>
        </p:nvSpPr>
        <p:spPr bwMode="auto">
          <a:xfrm rot="0" flipH="0" flipV="0">
            <a:off x="28960" y="2525924"/>
            <a:ext cx="1295219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Embeddings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with mismatch shapes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194424685" name=""/>
          <p:cNvSpPr/>
          <p:nvPr/>
        </p:nvSpPr>
        <p:spPr bwMode="auto">
          <a:xfrm rot="0" flipH="0" flipV="0">
            <a:off x="4289461" y="979648"/>
            <a:ext cx="624198" cy="544506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90779589" name=""/>
          <p:cNvSpPr/>
          <p:nvPr/>
        </p:nvSpPr>
        <p:spPr bwMode="auto">
          <a:xfrm rot="0" flipH="0" flipV="0">
            <a:off x="4205418" y="812426"/>
            <a:ext cx="812425" cy="1624851"/>
          </a:xfrm>
          <a:prstGeom prst="flowChartAlternateProcess">
            <a:avLst/>
          </a:prstGeom>
          <a:noFill/>
          <a:ln w="1904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12212159" name=""/>
          <p:cNvSpPr txBox="1"/>
          <p:nvPr/>
        </p:nvSpPr>
        <p:spPr bwMode="auto">
          <a:xfrm rot="0" flipH="0" flipV="0">
            <a:off x="3966552" y="2525924"/>
            <a:ext cx="1284778" cy="7318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Embeddings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with match shapes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644965476" name=""/>
          <p:cNvSpPr/>
          <p:nvPr/>
        </p:nvSpPr>
        <p:spPr bwMode="auto">
          <a:xfrm rot="0" flipH="0" flipV="0">
            <a:off x="4289461" y="1747261"/>
            <a:ext cx="624198" cy="544506"/>
          </a:xfrm>
          <a:prstGeom prst="cube">
            <a:avLst>
              <a:gd name="adj" fmla="val 25000"/>
            </a:avLst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00265080" name=""/>
          <p:cNvSpPr/>
          <p:nvPr/>
        </p:nvSpPr>
        <p:spPr bwMode="auto">
          <a:xfrm rot="0" flipH="0" flipV="0">
            <a:off x="1196249" y="1624852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64470180" name=""/>
          <p:cNvSpPr/>
          <p:nvPr/>
        </p:nvSpPr>
        <p:spPr bwMode="auto">
          <a:xfrm rot="0" flipH="0" flipV="0">
            <a:off x="3571126" y="1624852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73638969" name=""/>
          <p:cNvSpPr/>
          <p:nvPr/>
        </p:nvSpPr>
        <p:spPr bwMode="auto">
          <a:xfrm rot="0" flipH="0" flipV="0">
            <a:off x="6095999" y="922917"/>
            <a:ext cx="1412400" cy="1603007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24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LoRA</a:t>
            </a:r>
            <a:endParaRPr sz="36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476055147" name=""/>
          <p:cNvSpPr/>
          <p:nvPr/>
        </p:nvSpPr>
        <p:spPr bwMode="auto">
          <a:xfrm rot="0" flipH="0" flipV="0">
            <a:off x="5367055" y="1595019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260486644" name=""/>
          <p:cNvSpPr txBox="1"/>
          <p:nvPr/>
        </p:nvSpPr>
        <p:spPr bwMode="auto">
          <a:xfrm rot="0" flipH="0" flipV="0">
            <a:off x="7620953" y="931761"/>
            <a:ext cx="4349412" cy="1585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Base = </a:t>
            </a:r>
            <a:r>
              <a:rPr sz="1400">
                <a:latin typeface="Times New Roman"/>
                <a:cs typeface="Times New Roman"/>
              </a:rPr>
              <a:t> [B, 1024, 4096]</a:t>
            </a:r>
            <a:r>
              <a:rPr sz="1400">
                <a:latin typeface="Times New Roman"/>
                <a:cs typeface="Times New Roman"/>
              </a:rPr>
              <a:t> after linear layer (1024 patches)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Rank = 64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Matrix A = [768,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64</a:t>
            </a:r>
            <a:r>
              <a:rPr sz="1400">
                <a:latin typeface="Times New Roman"/>
                <a:cs typeface="Times New Roman"/>
              </a:rPr>
              <a:t>] 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Operation 1 : </a:t>
            </a:r>
            <a:r>
              <a:rPr sz="1400">
                <a:latin typeface="Times New Roman"/>
                <a:cs typeface="Times New Roman"/>
              </a:rPr>
              <a:t> </a:t>
            </a: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[B, 1024, 768] X A [768, 64] → [B, 1024, </a:t>
            </a: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64</a:t>
            </a: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]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Matrix B = [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64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, 4096]</a:t>
            </a:r>
            <a:endParaRPr sz="1400">
              <a:latin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Operation 2 :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Operation 1 X Matrix B = [B, 1024, 4096]</a:t>
            </a:r>
            <a:endParaRPr lang="en-US" sz="1400" b="0" i="0" u="none" strike="noStrike" cap="none" spc="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cs typeface="Times New Roman"/>
              </a:rPr>
              <a:t>Residual operation = Base + (Operation 2 *  (32 /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64</a:t>
            </a:r>
            <a:r>
              <a:rPr sz="1400">
                <a:latin typeface="Times New Roman"/>
                <a:cs typeface="Times New Roman"/>
              </a:rPr>
              <a:t>))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646567357" name=""/>
          <p:cNvSpPr/>
          <p:nvPr/>
        </p:nvSpPr>
        <p:spPr bwMode="auto">
          <a:xfrm rot="5399976" flipH="0" flipV="0">
            <a:off x="6447335" y="2885282"/>
            <a:ext cx="709728" cy="243235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89774085" name=""/>
          <p:cNvSpPr/>
          <p:nvPr/>
        </p:nvSpPr>
        <p:spPr bwMode="auto">
          <a:xfrm rot="0" flipH="0" flipV="0">
            <a:off x="4111240" y="3580110"/>
            <a:ext cx="1604840" cy="99071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</a:schemeClr>
              </a:gs>
              <a:gs pos="100000">
                <a:schemeClr val="accent6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Query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082361204" name=""/>
          <p:cNvSpPr/>
          <p:nvPr/>
        </p:nvSpPr>
        <p:spPr bwMode="auto">
          <a:xfrm rot="0" flipH="0" flipV="0">
            <a:off x="6121397" y="3580110"/>
            <a:ext cx="1604840" cy="99071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  <a:alpha val="81000"/>
                </a:schemeClr>
              </a:gs>
              <a:gs pos="100000">
                <a:srgbClr val="FF0000">
                  <a:alpha val="81000"/>
                </a:srgbClr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Key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773204605" name=""/>
          <p:cNvSpPr/>
          <p:nvPr/>
        </p:nvSpPr>
        <p:spPr bwMode="auto">
          <a:xfrm rot="0" flipH="0" flipV="0">
            <a:off x="8181640" y="3580110"/>
            <a:ext cx="1604840" cy="990718"/>
          </a:xfrm>
          <a:prstGeom prst="rect">
            <a:avLst/>
          </a:prstGeom>
          <a:gradFill>
            <a:gsLst>
              <a:gs pos="0">
                <a:schemeClr val="tx1">
                  <a:lumMod val="50000"/>
                  <a:lumOff val="50000"/>
                </a:schemeClr>
              </a:gs>
              <a:gs pos="100000">
                <a:schemeClr val="accent1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Value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232196035" name=""/>
          <p:cNvSpPr txBox="1"/>
          <p:nvPr/>
        </p:nvSpPr>
        <p:spPr bwMode="auto">
          <a:xfrm rot="0" flipH="0" flipV="0">
            <a:off x="4269291" y="4631583"/>
            <a:ext cx="1296296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Text_queries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97548827" name=""/>
          <p:cNvSpPr txBox="1"/>
          <p:nvPr/>
        </p:nvSpPr>
        <p:spPr bwMode="auto">
          <a:xfrm rot="0" flipH="0" flipV="0">
            <a:off x="6324297" y="4631582"/>
            <a:ext cx="130277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Visual features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04209196" name=""/>
          <p:cNvSpPr txBox="1"/>
          <p:nvPr/>
        </p:nvSpPr>
        <p:spPr bwMode="auto">
          <a:xfrm rot="0" flipH="0" flipV="0">
            <a:off x="8381696" y="4631582"/>
            <a:ext cx="130313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Visual features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979151934" name=""/>
          <p:cNvSpPr/>
          <p:nvPr/>
        </p:nvSpPr>
        <p:spPr bwMode="auto">
          <a:xfrm rot="0" flipH="0" flipV="0">
            <a:off x="3810954" y="3429000"/>
            <a:ext cx="6175582" cy="1566955"/>
          </a:xfrm>
          <a:prstGeom prst="flowChartAlternateProcess">
            <a:avLst/>
          </a:prstGeom>
          <a:noFill/>
          <a:ln w="1904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97533140" name=""/>
          <p:cNvSpPr txBox="1"/>
          <p:nvPr/>
        </p:nvSpPr>
        <p:spPr bwMode="auto">
          <a:xfrm rot="0" flipH="0" flipV="0">
            <a:off x="1984167" y="3996583"/>
            <a:ext cx="1781559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Cross Attention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(Multi-head attention)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666158646" name=""/>
          <p:cNvSpPr/>
          <p:nvPr/>
        </p:nvSpPr>
        <p:spPr bwMode="auto">
          <a:xfrm rot="5399976" flipH="0" flipV="0">
            <a:off x="6588903" y="5155967"/>
            <a:ext cx="426593" cy="243234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90688655" name=""/>
          <p:cNvSpPr/>
          <p:nvPr/>
        </p:nvSpPr>
        <p:spPr bwMode="auto">
          <a:xfrm rot="0" flipH="0" flipV="0">
            <a:off x="6198472" y="5518999"/>
            <a:ext cx="1207455" cy="522838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sz="16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Softmax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097905475" name=""/>
          <p:cNvSpPr txBox="1"/>
          <p:nvPr/>
        </p:nvSpPr>
        <p:spPr bwMode="auto">
          <a:xfrm rot="0" flipH="0" flipV="0">
            <a:off x="7688885" y="6174852"/>
            <a:ext cx="1735429" cy="518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 b="1">
                <a:latin typeface="Times New Roman"/>
                <a:ea typeface="Times New Roman"/>
                <a:cs typeface="Times New Roman"/>
              </a:rPr>
              <a:t>Aligned Embedding</a:t>
            </a:r>
            <a:endParaRPr sz="1400" b="1">
              <a:latin typeface="Times New Roman"/>
              <a:ea typeface="Times New Roman"/>
              <a:cs typeface="Times New Roman"/>
            </a:endParaRPr>
          </a:p>
          <a:p>
            <a:pPr algn="l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Num_Terms,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863392997" name=""/>
          <p:cNvSpPr/>
          <p:nvPr/>
        </p:nvSpPr>
        <p:spPr bwMode="auto">
          <a:xfrm rot="0" flipH="0" flipV="0">
            <a:off x="7620955" y="5689302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89649812" name=""/>
          <p:cNvSpPr/>
          <p:nvPr/>
        </p:nvSpPr>
        <p:spPr bwMode="auto">
          <a:xfrm rot="0" flipH="0" flipV="0">
            <a:off x="8301288" y="5203752"/>
            <a:ext cx="510263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527140870" name=""/>
          <p:cNvSpPr/>
          <p:nvPr/>
        </p:nvSpPr>
        <p:spPr bwMode="auto">
          <a:xfrm rot="10799989" flipH="0" flipV="0">
            <a:off x="5476253" y="5659469"/>
            <a:ext cx="479656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34785939" name=""/>
          <p:cNvSpPr/>
          <p:nvPr/>
        </p:nvSpPr>
        <p:spPr bwMode="auto">
          <a:xfrm rot="0" flipH="0" flipV="0">
            <a:off x="5251330" y="5203752"/>
            <a:ext cx="115724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8134643" name=""/>
          <p:cNvSpPr txBox="1"/>
          <p:nvPr/>
        </p:nvSpPr>
        <p:spPr bwMode="auto">
          <a:xfrm rot="0" flipH="0" flipV="0">
            <a:off x="3054557" y="5490881"/>
            <a:ext cx="2138426" cy="10214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400" b="1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Likelihood</a:t>
            </a:r>
            <a:endParaRPr sz="1400" b="1">
              <a:latin typeface="Times New Roman"/>
              <a:ea typeface="Times New Roman"/>
              <a:cs typeface="Times New Roman"/>
            </a:endParaRPr>
          </a:p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Num_Heads, Lt, Lv</a:t>
            </a:r>
            <a:endParaRPr sz="14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100">
                <a:latin typeface="Times New Roman"/>
                <a:cs typeface="Times New Roman"/>
              </a:rPr>
              <a:t>Lt (Lengh Textual terms)</a:t>
            </a:r>
            <a:br>
              <a:rPr sz="1100">
                <a:latin typeface="Times New Roman"/>
                <a:cs typeface="Times New Roman"/>
              </a:rPr>
            </a:br>
            <a:r>
              <a:rPr sz="1100">
                <a:latin typeface="Times New Roman"/>
                <a:cs typeface="Times New Roman"/>
              </a:rPr>
              <a:t>Lv (Lengh visual patches)</a:t>
            </a:r>
            <a:endParaRPr sz="11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sz="1100">
                <a:latin typeface="Times New Roman"/>
                <a:cs typeface="Times New Roman"/>
              </a:rPr>
              <a:t>Num_Heads = 8 (standart)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889694640" name=""/>
          <p:cNvSpPr txBox="1"/>
          <p:nvPr/>
        </p:nvSpPr>
        <p:spPr bwMode="auto">
          <a:xfrm rot="0" flipH="0" flipV="0">
            <a:off x="5643650" y="3907317"/>
            <a:ext cx="51824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X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942875511" name=""/>
          <p:cNvSpPr txBox="1"/>
          <p:nvPr/>
        </p:nvSpPr>
        <p:spPr bwMode="auto">
          <a:xfrm rot="0" flipH="0" flipV="0">
            <a:off x="7656800" y="3480746"/>
            <a:ext cx="408327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cs typeface="Times New Roman"/>
              </a:rPr>
              <a:t>T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020724203" name=""/>
          <p:cNvSpPr txBox="1"/>
          <p:nvPr/>
        </p:nvSpPr>
        <p:spPr bwMode="auto">
          <a:xfrm rot="0" flipH="0" flipV="0">
            <a:off x="10220734" y="3221485"/>
            <a:ext cx="1239675" cy="457559"/>
          </a:xfrm>
          <a:prstGeom prst="rect">
            <a:avLst/>
          </a:prstGeom>
          <a:noFill/>
          <a:ln w="28575">
            <a:solidFill>
              <a:srgbClr val="92D05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>
                <a:latin typeface="Times New Roman"/>
                <a:cs typeface="Times New Roman"/>
              </a:rPr>
              <a:t>Text_queries</a:t>
            </a:r>
            <a:endParaRPr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[B, 1, 4096]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1833227163" name=""/>
          <p:cNvSpPr txBox="1"/>
          <p:nvPr/>
        </p:nvSpPr>
        <p:spPr bwMode="auto">
          <a:xfrm rot="0" flipH="0" flipV="0">
            <a:off x="10220734" y="3907316"/>
            <a:ext cx="1239675" cy="457559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Visual features</a:t>
            </a:r>
            <a:endParaRPr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[B, 1024, 4096]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2013737220" name=""/>
          <p:cNvSpPr txBox="1"/>
          <p:nvPr/>
        </p:nvSpPr>
        <p:spPr bwMode="auto">
          <a:xfrm rot="0" flipH="0" flipV="0">
            <a:off x="10220734" y="4631582"/>
            <a:ext cx="1241115" cy="457559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Visual features</a:t>
            </a:r>
            <a:endParaRPr sz="1200">
              <a:latin typeface="Times New Roman"/>
              <a:cs typeface="Times New Roman"/>
            </a:endParaRPr>
          </a:p>
          <a:p>
            <a:pPr algn="ctr">
              <a:defRPr/>
            </a:pPr>
            <a:r>
              <a:rPr lang="en-US" sz="12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[B, 1024, 4096]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273554" name=""/>
          <p:cNvSpPr/>
          <p:nvPr/>
        </p:nvSpPr>
        <p:spPr bwMode="auto">
          <a:xfrm rot="0" flipH="0" flipV="0">
            <a:off x="4940234" y="133260"/>
            <a:ext cx="1856973" cy="1185953"/>
          </a:xfrm>
          <a:prstGeom prst="rect">
            <a:avLst/>
          </a:prstGeom>
          <a:gradFill>
            <a:gsLst>
              <a:gs pos="19000">
                <a:schemeClr val="tx1">
                  <a:lumMod val="50000"/>
                  <a:lumOff val="50000"/>
                </a:schemeClr>
              </a:gs>
              <a:gs pos="100000">
                <a:srgbClr val="FFFFFF"/>
              </a:gs>
            </a:gsLst>
            <a:lin ang="0" scaled="1"/>
          </a:gradFill>
          <a:ln w="19049" cap="flat" cmpd="sng" algn="ctr">
            <a:solidFill>
              <a:schemeClr val="tx1">
                <a:lumMod val="65098"/>
                <a:lumOff val="34902"/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2200"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Aligner	 </a:t>
            </a:r>
            <a:endParaRPr sz="22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pic>
        <p:nvPicPr>
          <p:cNvPr id="53668121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5005602" y="198508"/>
            <a:ext cx="350284" cy="350284"/>
          </a:xfrm>
          <a:prstGeom prst="rect">
            <a:avLst/>
          </a:prstGeom>
        </p:spPr>
      </p:pic>
      <p:sp>
        <p:nvSpPr>
          <p:cNvPr id="95119750" name=""/>
          <p:cNvSpPr txBox="1"/>
          <p:nvPr/>
        </p:nvSpPr>
        <p:spPr bwMode="auto">
          <a:xfrm rot="0" flipH="0" flipV="0">
            <a:off x="2192691" y="1166633"/>
            <a:ext cx="1913106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1024, 768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49778380" name=""/>
          <p:cNvSpPr txBox="1"/>
          <p:nvPr/>
        </p:nvSpPr>
        <p:spPr bwMode="auto">
          <a:xfrm rot="0" flipH="0" flipV="0">
            <a:off x="2046763" y="3184695"/>
            <a:ext cx="2298645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Num_texts, 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438567554" name=""/>
          <p:cNvSpPr/>
          <p:nvPr/>
        </p:nvSpPr>
        <p:spPr bwMode="auto">
          <a:xfrm rot="19549138" flipH="0" flipV="0">
            <a:off x="1683394" y="965325"/>
            <a:ext cx="659442" cy="13007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26613426" name=""/>
          <p:cNvSpPr/>
          <p:nvPr/>
        </p:nvSpPr>
        <p:spPr bwMode="auto">
          <a:xfrm rot="0" flipH="0" flipV="0">
            <a:off x="4237205" y="585706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11242750" name=""/>
          <p:cNvSpPr/>
          <p:nvPr/>
        </p:nvSpPr>
        <p:spPr bwMode="auto">
          <a:xfrm rot="0" flipH="0" flipV="0">
            <a:off x="7654503" y="282388"/>
            <a:ext cx="510262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2043255231" name=""/>
          <p:cNvSpPr/>
          <p:nvPr/>
        </p:nvSpPr>
        <p:spPr bwMode="auto">
          <a:xfrm rot="0" flipH="0" flipV="0">
            <a:off x="6963012" y="635121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19656377" name=""/>
          <p:cNvSpPr/>
          <p:nvPr/>
        </p:nvSpPr>
        <p:spPr bwMode="auto">
          <a:xfrm rot="0" flipH="0" flipV="0">
            <a:off x="2516834" y="314737"/>
            <a:ext cx="1520077" cy="803485"/>
          </a:xfrm>
          <a:prstGeom prst="cube">
            <a:avLst>
              <a:gd name="adj" fmla="val 25000"/>
            </a:avLst>
          </a:prstGeom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9090897" name=""/>
          <p:cNvSpPr/>
          <p:nvPr/>
        </p:nvSpPr>
        <p:spPr bwMode="auto">
          <a:xfrm rot="0" flipH="0" flipV="0">
            <a:off x="191629" y="749000"/>
            <a:ext cx="1400121" cy="1721728"/>
          </a:xfrm>
          <a:prstGeom prst="can">
            <a:avLst>
              <a:gd name="adj" fmla="val 25000"/>
            </a:avLst>
          </a:prstGeom>
          <a:solidFill>
            <a:schemeClr val="bg2">
              <a:lumMod val="75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>
                <a:solidFill>
                  <a:schemeClr val="tx1"/>
                </a:solidFill>
              </a:rPr>
              <a:t>Tensor’s Disk</a:t>
            </a:r>
            <a:endParaRPr/>
          </a:p>
        </p:txBody>
      </p:sp>
      <p:sp>
        <p:nvSpPr>
          <p:cNvPr id="474880056" name=""/>
          <p:cNvSpPr/>
          <p:nvPr/>
        </p:nvSpPr>
        <p:spPr bwMode="auto">
          <a:xfrm rot="1759581" flipH="0" flipV="0">
            <a:off x="1767517" y="2175743"/>
            <a:ext cx="659441" cy="130071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58678054" name=""/>
          <p:cNvSpPr/>
          <p:nvPr/>
        </p:nvSpPr>
        <p:spPr bwMode="auto">
          <a:xfrm rot="0" flipH="0" flipV="0">
            <a:off x="2602716" y="2094589"/>
            <a:ext cx="1186737" cy="1017914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376827083" name=""/>
          <p:cNvSpPr txBox="1"/>
          <p:nvPr/>
        </p:nvSpPr>
        <p:spPr bwMode="auto">
          <a:xfrm rot="0" flipH="0" flipV="0">
            <a:off x="6963012" y="1312738"/>
            <a:ext cx="1736508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B, Num_Terms,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1083322050" name=""/>
          <p:cNvSpPr/>
          <p:nvPr/>
        </p:nvSpPr>
        <p:spPr bwMode="auto">
          <a:xfrm rot="0" flipH="0" flipV="0">
            <a:off x="8801522" y="427579"/>
            <a:ext cx="1053712" cy="680717"/>
          </a:xfrm>
          <a:prstGeom prst="rect">
            <a:avLst/>
          </a:prstGeom>
          <a:solidFill>
            <a:schemeClr val="accent6">
              <a:alpha val="66000"/>
            </a:schemeClr>
          </a:solidFill>
          <a:ln w="19049" cap="flat" cmpd="sng" algn="ctr">
            <a:solidFill>
              <a:schemeClr val="tx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Squeeze + L2 normalize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314008204" name=""/>
          <p:cNvSpPr/>
          <p:nvPr/>
        </p:nvSpPr>
        <p:spPr bwMode="auto">
          <a:xfrm rot="0" flipH="0" flipV="0">
            <a:off x="8275175" y="635121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23884697" name=""/>
          <p:cNvSpPr/>
          <p:nvPr/>
        </p:nvSpPr>
        <p:spPr bwMode="auto">
          <a:xfrm rot="0" flipH="0" flipV="0">
            <a:off x="9073247" y="2167411"/>
            <a:ext cx="510262" cy="971100"/>
          </a:xfrm>
          <a:prstGeom prst="cube">
            <a:avLst>
              <a:gd name="adj" fmla="val 25000"/>
            </a:avLst>
          </a:prstGeom>
          <a:solidFill>
            <a:srgbClr val="CF73E6"/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438849403" name=""/>
          <p:cNvSpPr/>
          <p:nvPr/>
        </p:nvSpPr>
        <p:spPr bwMode="auto">
          <a:xfrm rot="5400000" flipH="0" flipV="0">
            <a:off x="9103854" y="1526781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919135715" name=""/>
          <p:cNvSpPr txBox="1"/>
          <p:nvPr/>
        </p:nvSpPr>
        <p:spPr bwMode="auto">
          <a:xfrm rot="0" flipH="0" flipV="0">
            <a:off x="8515003" y="3184695"/>
            <a:ext cx="1599010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Num_Terms,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547252349" name=""/>
          <p:cNvSpPr/>
          <p:nvPr/>
        </p:nvSpPr>
        <p:spPr bwMode="auto">
          <a:xfrm rot="0" flipH="0" flipV="0">
            <a:off x="4575860" y="2263187"/>
            <a:ext cx="1053712" cy="680717"/>
          </a:xfrm>
          <a:prstGeom prst="rect">
            <a:avLst/>
          </a:prstGeom>
          <a:solidFill>
            <a:schemeClr val="accent6">
              <a:alpha val="66000"/>
            </a:schemeClr>
          </a:solidFill>
          <a:ln w="19049" cap="flat" cmpd="sng" algn="ctr">
            <a:solidFill>
              <a:schemeClr val="tx1">
                <a:alpha val="99999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sz="1400" b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Squeeze + L2 normalize</a:t>
            </a:r>
            <a:endParaRPr b="0">
              <a:latin typeface="Times New Roman"/>
              <a:cs typeface="Times New Roman"/>
            </a:endParaRPr>
          </a:p>
        </p:txBody>
      </p:sp>
      <p:sp>
        <p:nvSpPr>
          <p:cNvPr id="604955416" name=""/>
          <p:cNvSpPr/>
          <p:nvPr/>
        </p:nvSpPr>
        <p:spPr bwMode="auto">
          <a:xfrm rot="0" flipH="0" flipV="0">
            <a:off x="3984145" y="2470729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630955041" name=""/>
          <p:cNvSpPr/>
          <p:nvPr/>
        </p:nvSpPr>
        <p:spPr bwMode="auto">
          <a:xfrm rot="0" flipH="0" flipV="0">
            <a:off x="6467766" y="2135989"/>
            <a:ext cx="1186737" cy="1017914"/>
          </a:xfrm>
          <a:prstGeom prst="cube">
            <a:avLst>
              <a:gd name="adj" fmla="val 25000"/>
            </a:avLst>
          </a:prstGeom>
          <a:solidFill>
            <a:schemeClr val="accent2">
              <a:lumMod val="60000"/>
              <a:lumOff val="40000"/>
            </a:schemeClr>
          </a:solidFill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03406774" name=""/>
          <p:cNvSpPr txBox="1"/>
          <p:nvPr/>
        </p:nvSpPr>
        <p:spPr bwMode="auto">
          <a:xfrm rot="0" flipH="0" flipV="0">
            <a:off x="5761500" y="3184695"/>
            <a:ext cx="2300444" cy="305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>
                <a:latin typeface="Times New Roman"/>
                <a:ea typeface="Times New Roman"/>
                <a:cs typeface="Times New Roman"/>
              </a:rPr>
              <a:t>Num_texts,  4096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2008194211" name=""/>
          <p:cNvSpPr/>
          <p:nvPr/>
        </p:nvSpPr>
        <p:spPr bwMode="auto">
          <a:xfrm rot="0" flipH="0" flipV="0">
            <a:off x="5761500" y="2458972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030985958" name=""/>
          <p:cNvSpPr/>
          <p:nvPr/>
        </p:nvSpPr>
        <p:spPr bwMode="auto">
          <a:xfrm rot="5400000" flipH="0" flipV="0">
            <a:off x="9103854" y="3714917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85226534" name=""/>
          <p:cNvSpPr/>
          <p:nvPr/>
        </p:nvSpPr>
        <p:spPr bwMode="auto">
          <a:xfrm rot="5400000" flipH="0" flipV="0">
            <a:off x="6763011" y="3714917"/>
            <a:ext cx="479655" cy="1822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Times New Roman"/>
              <a:cs typeface="Times New Roman"/>
            </a:endParaRPr>
          </a:p>
        </p:txBody>
      </p:sp>
      <p:sp>
        <p:nvSpPr>
          <p:cNvPr id="1948128818" name=""/>
          <p:cNvSpPr/>
          <p:nvPr/>
        </p:nvSpPr>
        <p:spPr bwMode="auto">
          <a:xfrm rot="0" flipH="0" flipV="0">
            <a:off x="5577975" y="4118161"/>
            <a:ext cx="4967940" cy="2493308"/>
          </a:xfrm>
          <a:prstGeom prst="flowChartAlternateProcess">
            <a:avLst/>
          </a:prstGeom>
          <a:noFill/>
          <a:ln w="1270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11974652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5905011" y="4670668"/>
            <a:ext cx="4313868" cy="492076"/>
          </a:xfrm>
          <a:prstGeom prst="rect">
            <a:avLst/>
          </a:prstGeom>
        </p:spPr>
      </p:pic>
      <p:sp>
        <p:nvSpPr>
          <p:cNvPr id="1940584870" name=""/>
          <p:cNvSpPr txBox="1"/>
          <p:nvPr/>
        </p:nvSpPr>
        <p:spPr bwMode="auto">
          <a:xfrm rot="0" flipH="0" flipV="0">
            <a:off x="7202840" y="4194386"/>
            <a:ext cx="1605849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600">
                <a:latin typeface="Times New Roman"/>
                <a:ea typeface="Times New Roman"/>
                <a:cs typeface="Times New Roman"/>
              </a:rPr>
              <a:t>Similarity Matrix</a:t>
            </a:r>
            <a:endParaRPr sz="1600">
              <a:latin typeface="Times New Roman"/>
              <a:cs typeface="Times New Roman"/>
            </a:endParaRPr>
          </a:p>
        </p:txBody>
      </p:sp>
      <p:pic>
        <p:nvPicPr>
          <p:cNvPr id="186479189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5761500" y="5688015"/>
            <a:ext cx="4549565" cy="440957"/>
          </a:xfrm>
          <a:prstGeom prst="rect">
            <a:avLst/>
          </a:prstGeom>
        </p:spPr>
      </p:pic>
      <p:sp>
        <p:nvSpPr>
          <p:cNvPr id="178794457" name=""/>
          <p:cNvSpPr txBox="1"/>
          <p:nvPr/>
        </p:nvSpPr>
        <p:spPr bwMode="auto">
          <a:xfrm rot="0" flipH="0" flipV="0">
            <a:off x="6761538" y="5237451"/>
            <a:ext cx="2806816" cy="3356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>
                <a:latin typeface="Times New Roman"/>
                <a:cs typeface="Times New Roman"/>
              </a:rPr>
              <a:t>Text-Image </a:t>
            </a:r>
            <a:endParaRPr sz="1600">
              <a:latin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12</cp:revision>
  <dcterms:modified xsi:type="dcterms:W3CDTF">2026-05-26T20:01:55Z</dcterms:modified>
</cp:coreProperties>
</file>