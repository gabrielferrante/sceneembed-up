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7"/>
  </p:notesMasterIdLst>
  <p:sldIdLst>
    <p:sldId id="256" r:id="rId4"/>
    <p:sldId id="257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 /><Relationship Id="rId9" Type="http://schemas.openxmlformats.org/officeDocument/2006/relationships/tableStyles" Target="tableStyles.xml" /><Relationship Id="rId1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5558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20406871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48962201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2435061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4247981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0272716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36440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203183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9849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64370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0395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66669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FB40B8-C03E-A3D8-FACF-85666CF6122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988B9D-ECF5-44FE-A9D4-D6E41E6C2E0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34167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91454649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8339129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19120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430519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3045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79168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198923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2927630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062574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683035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298774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611227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35746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3471841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61249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5625287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8918031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3813335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8094326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461121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46817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7845888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4082784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9151642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6066727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0775763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04241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7890424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376151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6984509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306983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3310583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809746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3212163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8961196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54776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15284407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72636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5606973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3325379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3540643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16472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855483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94429647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767644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2462154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4993969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9308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164388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051831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5053898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1071987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1588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088366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2865898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69392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7593236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398666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5389852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3434025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3807298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9464110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3802750" name=""/>
          <p:cNvSpPr/>
          <p:nvPr/>
        </p:nvSpPr>
        <p:spPr bwMode="auto">
          <a:xfrm rot="0" flipH="0" flipV="0">
            <a:off x="2056338" y="587332"/>
            <a:ext cx="1651897" cy="1002980"/>
          </a:xfrm>
          <a:prstGeom prst="rect">
            <a:avLst/>
          </a:prstGeom>
          <a:gradFill>
            <a:gsLst>
              <a:gs pos="19000">
                <a:schemeClr val="accent1"/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DINOV3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885893729" name=""/>
          <p:cNvSpPr/>
          <p:nvPr/>
        </p:nvSpPr>
        <p:spPr bwMode="auto">
          <a:xfrm rot="0" flipH="0" flipV="0">
            <a:off x="2056338" y="2172294"/>
            <a:ext cx="1651897" cy="1022001"/>
          </a:xfrm>
          <a:prstGeom prst="rect">
            <a:avLst/>
          </a:prstGeom>
          <a:gradFill>
            <a:gsLst>
              <a:gs pos="19000">
                <a:schemeClr val="accent2">
                  <a:lumMod val="60000"/>
                  <a:lumOff val="4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2">
                <a:lumMod val="60000"/>
                <a:lumOff val="40000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QWEN3 Embeddings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1356415552" name=""/>
          <p:cNvSpPr/>
          <p:nvPr/>
        </p:nvSpPr>
        <p:spPr bwMode="auto">
          <a:xfrm rot="0" flipH="0" flipV="0">
            <a:off x="4648061" y="694980"/>
            <a:ext cx="179649" cy="668849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16326814" name=""/>
          <p:cNvSpPr txBox="1"/>
          <p:nvPr/>
        </p:nvSpPr>
        <p:spPr bwMode="auto">
          <a:xfrm rot="0" flipH="0" flipV="0">
            <a:off x="4104496" y="1423918"/>
            <a:ext cx="1266780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Batch, 768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993381123" name=""/>
          <p:cNvSpPr/>
          <p:nvPr/>
        </p:nvSpPr>
        <p:spPr bwMode="auto">
          <a:xfrm rot="0" flipH="0" flipV="0">
            <a:off x="5877881" y="587332"/>
            <a:ext cx="1450413" cy="884145"/>
          </a:xfrm>
          <a:prstGeom prst="rect">
            <a:avLst/>
          </a:prstGeom>
          <a:solidFill>
            <a:srgbClr val="FF0000">
              <a:alpha val="44999"/>
            </a:srgbClr>
          </a:solidFill>
          <a:ln w="19049" cap="flat" cmpd="sng" algn="ctr">
            <a:solidFill>
              <a:schemeClr val="tx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UPSAMPLER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1963201656" name=""/>
          <p:cNvSpPr txBox="1"/>
          <p:nvPr/>
        </p:nvSpPr>
        <p:spPr bwMode="auto">
          <a:xfrm rot="0" flipH="0" flipV="0">
            <a:off x="7659884" y="1608817"/>
            <a:ext cx="1906629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Batch, 768, 224, 224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077385861" name=""/>
          <p:cNvSpPr/>
          <p:nvPr/>
        </p:nvSpPr>
        <p:spPr bwMode="auto">
          <a:xfrm rot="0" flipH="0" flipV="0">
            <a:off x="141029" y="808859"/>
            <a:ext cx="1512793" cy="2291434"/>
          </a:xfrm>
          <a:prstGeom prst="cube">
            <a:avLst>
              <a:gd name="adj" fmla="val 25000"/>
            </a:avLst>
          </a:prstGeom>
          <a:gradFill>
            <a:gsLst>
              <a:gs pos="0">
                <a:schemeClr val="accent1">
                  <a:alpha val="99999"/>
                </a:schemeClr>
              </a:gs>
              <a:gs pos="100000">
                <a:schemeClr val="accent2">
                  <a:lumMod val="60000"/>
                  <a:lumOff val="40000"/>
                  <a:alpha val="99999"/>
                </a:schemeClr>
              </a:gs>
            </a:gsLst>
            <a:lin ang="0" scaled="1"/>
          </a:gradFill>
          <a:ln w="12700" cap="flat" cmpd="sng" algn="ctr">
            <a:solidFill>
              <a:schemeClr val="accent1">
                <a:shade val="50000"/>
                <a:alpha val="84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8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Images</a:t>
            </a:r>
            <a:endParaRPr sz="1800" b="1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8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And </a:t>
            </a:r>
            <a:endParaRPr sz="1800" b="1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8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Captions</a:t>
            </a:r>
            <a:endParaRPr sz="20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269384289" name=""/>
          <p:cNvSpPr/>
          <p:nvPr/>
        </p:nvSpPr>
        <p:spPr bwMode="auto">
          <a:xfrm rot="0" flipH="0" flipV="0">
            <a:off x="4387680" y="2144904"/>
            <a:ext cx="1186738" cy="1017915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0318267" name=""/>
          <p:cNvSpPr txBox="1"/>
          <p:nvPr/>
        </p:nvSpPr>
        <p:spPr bwMode="auto">
          <a:xfrm rot="0" flipH="0" flipV="0">
            <a:off x="4290613" y="3291660"/>
            <a:ext cx="1269659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Batch,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726245115" name=""/>
          <p:cNvSpPr/>
          <p:nvPr/>
        </p:nvSpPr>
        <p:spPr bwMode="auto">
          <a:xfrm rot="0" flipH="0" flipV="0">
            <a:off x="3810955" y="981845"/>
            <a:ext cx="47965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3622334" name=""/>
          <p:cNvSpPr/>
          <p:nvPr/>
        </p:nvSpPr>
        <p:spPr bwMode="auto">
          <a:xfrm rot="0" flipH="0" flipV="0">
            <a:off x="8046021" y="511416"/>
            <a:ext cx="1185838" cy="1080868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4210803" name=""/>
          <p:cNvSpPr/>
          <p:nvPr/>
        </p:nvSpPr>
        <p:spPr bwMode="auto">
          <a:xfrm rot="0" flipH="0" flipV="0">
            <a:off x="5224772" y="938288"/>
            <a:ext cx="507088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349655207" name=""/>
          <p:cNvSpPr/>
          <p:nvPr/>
        </p:nvSpPr>
        <p:spPr bwMode="auto">
          <a:xfrm rot="0" flipH="0" flipV="0">
            <a:off x="7406340" y="981845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04478779" name=""/>
          <p:cNvSpPr txBox="1"/>
          <p:nvPr/>
        </p:nvSpPr>
        <p:spPr bwMode="auto">
          <a:xfrm rot="0" flipH="0" flipV="0">
            <a:off x="5594558" y="1471477"/>
            <a:ext cx="1919589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E.g. AnyUP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72438470" name=""/>
          <p:cNvSpPr/>
          <p:nvPr/>
        </p:nvSpPr>
        <p:spPr bwMode="auto">
          <a:xfrm rot="0" flipH="0" flipV="0">
            <a:off x="9933913" y="571471"/>
            <a:ext cx="1450413" cy="884144"/>
          </a:xfrm>
          <a:prstGeom prst="rect">
            <a:avLst/>
          </a:prstGeom>
          <a:solidFill>
            <a:schemeClr val="accent6">
              <a:alpha val="66000"/>
            </a:schemeClr>
          </a:solidFill>
          <a:ln w="19049" cap="flat" cmpd="sng" algn="ctr">
            <a:solidFill>
              <a:schemeClr val="tx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AVG Pooling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1472990590" name=""/>
          <p:cNvSpPr txBox="1"/>
          <p:nvPr/>
        </p:nvSpPr>
        <p:spPr bwMode="auto">
          <a:xfrm rot="0" flipH="0" flipV="0">
            <a:off x="9798000" y="3291660"/>
            <a:ext cx="1905189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Batch, 768, 32, 32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877030433" name=""/>
          <p:cNvSpPr/>
          <p:nvPr/>
        </p:nvSpPr>
        <p:spPr bwMode="auto">
          <a:xfrm rot="0" flipH="0" flipV="0">
            <a:off x="9312556" y="890729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209293" name=""/>
          <p:cNvSpPr/>
          <p:nvPr/>
        </p:nvSpPr>
        <p:spPr bwMode="auto">
          <a:xfrm rot="0" flipH="0" flipV="0">
            <a:off x="10317821" y="2113427"/>
            <a:ext cx="682594" cy="1080867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01621947" name=""/>
          <p:cNvSpPr/>
          <p:nvPr/>
        </p:nvSpPr>
        <p:spPr bwMode="auto">
          <a:xfrm rot="5399977" flipH="0" flipV="0">
            <a:off x="10405576" y="1715762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343020316" name=""/>
          <p:cNvSpPr/>
          <p:nvPr/>
        </p:nvSpPr>
        <p:spPr bwMode="auto">
          <a:xfrm rot="0" flipH="0" flipV="0">
            <a:off x="3810955" y="2705802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67212057" name=""/>
          <p:cNvSpPr/>
          <p:nvPr/>
        </p:nvSpPr>
        <p:spPr bwMode="auto">
          <a:xfrm rot="0" flipH="0" flipV="0">
            <a:off x="6884570" y="3855825"/>
            <a:ext cx="2322902" cy="1307350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22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Aligner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(Latent Space Projection)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398371555" name=""/>
          <p:cNvSpPr/>
          <p:nvPr/>
        </p:nvSpPr>
        <p:spPr bwMode="auto">
          <a:xfrm rot="5399977" flipH="0" flipV="0">
            <a:off x="6259949" y="2271794"/>
            <a:ext cx="1017867" cy="1782003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39272"/>
            </a:avLst>
          </a:prstGeom>
          <a:solidFill>
            <a:schemeClr val="tx1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57162696" name=""/>
          <p:cNvSpPr/>
          <p:nvPr/>
        </p:nvSpPr>
        <p:spPr bwMode="auto">
          <a:xfrm rot="5399977" flipH="0" flipV="1">
            <a:off x="8722926" y="2271793"/>
            <a:ext cx="1017866" cy="1782002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39272"/>
            </a:avLst>
          </a:prstGeom>
          <a:solidFill>
            <a:schemeClr val="tx1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633503346" name=""/>
          <p:cNvSpPr/>
          <p:nvPr/>
        </p:nvSpPr>
        <p:spPr bwMode="auto">
          <a:xfrm rot="7959655" flipH="0" flipV="0">
            <a:off x="1401051" y="1429554"/>
            <a:ext cx="858220" cy="858637"/>
          </a:xfrm>
          <a:prstGeom prst="leftUpArrow">
            <a:avLst>
              <a:gd name="adj1" fmla="val 25000"/>
              <a:gd name="adj2" fmla="val 25000"/>
              <a:gd name="adj3" fmla="val 25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0" scaled="1"/>
          </a:gradFill>
          <a:ln w="12700" cap="flat" cmpd="sng" algn="ctr">
            <a:solidFill>
              <a:schemeClr val="accent1">
                <a:shade val="50000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09390151" name=""/>
          <p:cNvSpPr txBox="1"/>
          <p:nvPr/>
        </p:nvSpPr>
        <p:spPr bwMode="auto">
          <a:xfrm rot="0" flipH="0" flipV="0">
            <a:off x="4981050" y="72956"/>
            <a:ext cx="184056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1">
                <a:latin typeface="Times New Roman"/>
                <a:cs typeface="Times New Roman"/>
              </a:rPr>
              <a:t>TRAINING</a:t>
            </a:r>
            <a:endParaRPr sz="1800" b="1">
              <a:latin typeface="Times New Roman"/>
              <a:cs typeface="Times New Roman"/>
            </a:endParaRPr>
          </a:p>
        </p:txBody>
      </p:sp>
      <p:sp>
        <p:nvSpPr>
          <p:cNvPr id="1848281139" name=""/>
          <p:cNvSpPr/>
          <p:nvPr/>
        </p:nvSpPr>
        <p:spPr bwMode="auto">
          <a:xfrm rot="0" flipH="0" flipV="0">
            <a:off x="7406340" y="5832788"/>
            <a:ext cx="1425668" cy="461181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Constrative loss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464381734" name=""/>
          <p:cNvSpPr/>
          <p:nvPr/>
        </p:nvSpPr>
        <p:spPr bwMode="auto">
          <a:xfrm rot="5399977" flipH="0" flipV="0">
            <a:off x="7865630" y="5429234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962945" name=""/>
          <p:cNvSpPr/>
          <p:nvPr/>
        </p:nvSpPr>
        <p:spPr bwMode="auto">
          <a:xfrm rot="0" flipH="0" flipV="0">
            <a:off x="1825935" y="1251902"/>
            <a:ext cx="1604841" cy="990718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Affine linear transformation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821482406" name=""/>
          <p:cNvSpPr/>
          <p:nvPr/>
        </p:nvSpPr>
        <p:spPr bwMode="auto">
          <a:xfrm rot="0" flipH="0" flipV="0">
            <a:off x="351870" y="979648"/>
            <a:ext cx="624199" cy="544507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63609152" name=""/>
          <p:cNvSpPr/>
          <p:nvPr/>
        </p:nvSpPr>
        <p:spPr bwMode="auto">
          <a:xfrm rot="0" flipH="0" flipV="0">
            <a:off x="463929" y="1655854"/>
            <a:ext cx="400081" cy="632013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87691766" name=""/>
          <p:cNvSpPr/>
          <p:nvPr/>
        </p:nvSpPr>
        <p:spPr bwMode="auto">
          <a:xfrm rot="0" flipH="0" flipV="0">
            <a:off x="267826" y="812426"/>
            <a:ext cx="812426" cy="1624852"/>
          </a:xfrm>
          <a:prstGeom prst="flowChartAlternateProcess">
            <a:avLst/>
          </a:prstGeom>
          <a:noFill/>
          <a:ln w="1904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74273313" name=""/>
          <p:cNvSpPr txBox="1"/>
          <p:nvPr/>
        </p:nvSpPr>
        <p:spPr bwMode="auto">
          <a:xfrm rot="0" flipH="0" flipV="0">
            <a:off x="28960" y="2525924"/>
            <a:ext cx="1295219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Embeddings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with mismatch shapes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562425208" name=""/>
          <p:cNvSpPr/>
          <p:nvPr/>
        </p:nvSpPr>
        <p:spPr bwMode="auto">
          <a:xfrm rot="0" flipH="0" flipV="0">
            <a:off x="4289461" y="979648"/>
            <a:ext cx="624198" cy="544506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39931386" name=""/>
          <p:cNvSpPr/>
          <p:nvPr/>
        </p:nvSpPr>
        <p:spPr bwMode="auto">
          <a:xfrm rot="0" flipH="0" flipV="0">
            <a:off x="4205418" y="812426"/>
            <a:ext cx="812425" cy="1624851"/>
          </a:xfrm>
          <a:prstGeom prst="flowChartAlternateProcess">
            <a:avLst/>
          </a:prstGeom>
          <a:noFill/>
          <a:ln w="1904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37919059" name=""/>
          <p:cNvSpPr txBox="1"/>
          <p:nvPr/>
        </p:nvSpPr>
        <p:spPr bwMode="auto">
          <a:xfrm rot="0" flipH="0" flipV="0">
            <a:off x="3966552" y="2525924"/>
            <a:ext cx="1284778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Embeddings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with match shapes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810954736" name=""/>
          <p:cNvSpPr/>
          <p:nvPr/>
        </p:nvSpPr>
        <p:spPr bwMode="auto">
          <a:xfrm rot="0" flipH="0" flipV="0">
            <a:off x="4289461" y="1747261"/>
            <a:ext cx="624198" cy="544506"/>
          </a:xfrm>
          <a:prstGeom prst="cube">
            <a:avLst>
              <a:gd name="adj" fmla="val 25000"/>
            </a:avLst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88813162" name=""/>
          <p:cNvSpPr/>
          <p:nvPr/>
        </p:nvSpPr>
        <p:spPr bwMode="auto">
          <a:xfrm rot="0" flipH="0" flipV="0">
            <a:off x="1196249" y="1624852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630021395" name=""/>
          <p:cNvSpPr/>
          <p:nvPr/>
        </p:nvSpPr>
        <p:spPr bwMode="auto">
          <a:xfrm rot="0" flipH="0" flipV="0">
            <a:off x="3571126" y="1624852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35721826" name=""/>
          <p:cNvSpPr txBox="1"/>
          <p:nvPr/>
        </p:nvSpPr>
        <p:spPr bwMode="auto">
          <a:xfrm rot="0" flipH="0" flipV="0">
            <a:off x="1984167" y="2284698"/>
            <a:ext cx="1288378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(Bias = True)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422933029" name=""/>
          <p:cNvSpPr/>
          <p:nvPr/>
        </p:nvSpPr>
        <p:spPr bwMode="auto">
          <a:xfrm rot="0" flipH="0" flipV="0">
            <a:off x="6095999" y="922917"/>
            <a:ext cx="1412400" cy="1603007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LoRA</a:t>
            </a:r>
            <a:endParaRPr sz="36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666578000" name=""/>
          <p:cNvSpPr/>
          <p:nvPr/>
        </p:nvSpPr>
        <p:spPr bwMode="auto">
          <a:xfrm rot="0" flipH="0" flipV="0">
            <a:off x="5367055" y="1595019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26176668" name=""/>
          <p:cNvSpPr txBox="1"/>
          <p:nvPr/>
        </p:nvSpPr>
        <p:spPr bwMode="auto">
          <a:xfrm rot="0" flipH="0" flipV="0">
            <a:off x="7620955" y="931761"/>
            <a:ext cx="4339332" cy="1585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Base = </a:t>
            </a:r>
            <a:r>
              <a:rPr sz="1400">
                <a:latin typeface="Times New Roman"/>
                <a:cs typeface="Times New Roman"/>
              </a:rPr>
              <a:t> [B, 1024, 4096]</a:t>
            </a:r>
            <a:r>
              <a:rPr sz="1400">
                <a:latin typeface="Times New Roman"/>
                <a:cs typeface="Times New Roman"/>
              </a:rPr>
              <a:t> after linear layer (1024 patches)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Rank = 16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Matrix A = [768, rank] 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Operation 1 : </a:t>
            </a:r>
            <a:r>
              <a:rPr sz="1400">
                <a:latin typeface="Times New Roman"/>
                <a:cs typeface="Times New Roman"/>
              </a:rPr>
              <a:t> Base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X Matrix A = [B, 1024, 16]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Matrix B = [16, 4096]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Operation 2 : 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Operation 1 X Matrix B = [B, 1024, 4096]</a:t>
            </a:r>
            <a:endParaRPr lang="en-US" sz="1400" b="0" i="0" u="none" strike="noStrike" cap="none" spc="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Residual operation = Base + (Operation 2 *  (32 / rank))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924383550" name=""/>
          <p:cNvSpPr txBox="1"/>
          <p:nvPr/>
        </p:nvSpPr>
        <p:spPr bwMode="auto">
          <a:xfrm rot="0" flipH="0" flipV="0">
            <a:off x="4981050" y="72956"/>
            <a:ext cx="184344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1">
                <a:latin typeface="Times New Roman"/>
                <a:cs typeface="Times New Roman"/>
              </a:rPr>
              <a:t>ALIGNER</a:t>
            </a:r>
            <a:endParaRPr sz="1800" b="1">
              <a:latin typeface="Times New Roman"/>
              <a:cs typeface="Times New Roman"/>
            </a:endParaRPr>
          </a:p>
        </p:txBody>
      </p:sp>
      <p:sp>
        <p:nvSpPr>
          <p:cNvPr id="947336745" name=""/>
          <p:cNvSpPr/>
          <p:nvPr/>
        </p:nvSpPr>
        <p:spPr bwMode="auto">
          <a:xfrm rot="5399977" flipH="0" flipV="0">
            <a:off x="6447335" y="2885282"/>
            <a:ext cx="709728" cy="24323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38073834" name=""/>
          <p:cNvSpPr/>
          <p:nvPr/>
        </p:nvSpPr>
        <p:spPr bwMode="auto">
          <a:xfrm rot="0" flipH="0" flipV="0">
            <a:off x="4111240" y="3580110"/>
            <a:ext cx="1604840" cy="990718"/>
          </a:xfrm>
          <a:prstGeom prst="rect">
            <a:avLst/>
          </a:prstGeom>
          <a:gradFill>
            <a:gsLst>
              <a:gs pos="0">
                <a:schemeClr val="tx1">
                  <a:lumMod val="50000"/>
                  <a:lumOff val="50000"/>
                </a:schemeClr>
              </a:gs>
              <a:gs pos="100000">
                <a:schemeClr val="accent6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Query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255364048" name=""/>
          <p:cNvSpPr/>
          <p:nvPr/>
        </p:nvSpPr>
        <p:spPr bwMode="auto">
          <a:xfrm rot="0" flipH="0" flipV="0">
            <a:off x="6121397" y="3580110"/>
            <a:ext cx="1604840" cy="990718"/>
          </a:xfrm>
          <a:prstGeom prst="rect">
            <a:avLst/>
          </a:prstGeom>
          <a:gradFill>
            <a:gsLst>
              <a:gs pos="0">
                <a:schemeClr val="tx1">
                  <a:lumMod val="50000"/>
                  <a:lumOff val="50000"/>
                  <a:alpha val="81000"/>
                </a:schemeClr>
              </a:gs>
              <a:gs pos="100000">
                <a:srgbClr val="FF0000">
                  <a:alpha val="81000"/>
                </a:srgbClr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Key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863850387" name=""/>
          <p:cNvSpPr/>
          <p:nvPr/>
        </p:nvSpPr>
        <p:spPr bwMode="auto">
          <a:xfrm rot="0" flipH="0" flipV="0">
            <a:off x="8181640" y="3580110"/>
            <a:ext cx="1604840" cy="990718"/>
          </a:xfrm>
          <a:prstGeom prst="rect">
            <a:avLst/>
          </a:prstGeom>
          <a:gradFill>
            <a:gsLst>
              <a:gs pos="0">
                <a:schemeClr val="tx1">
                  <a:lumMod val="50000"/>
                  <a:lumOff val="50000"/>
                </a:schemeClr>
              </a:gs>
              <a:gs pos="100000">
                <a:schemeClr val="accent1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Value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343007477" name=""/>
          <p:cNvSpPr txBox="1"/>
          <p:nvPr/>
        </p:nvSpPr>
        <p:spPr bwMode="auto">
          <a:xfrm rot="0" flipH="0" flipV="0">
            <a:off x="4269291" y="4631583"/>
            <a:ext cx="1296296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Text_queries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686245740" name=""/>
          <p:cNvSpPr txBox="1"/>
          <p:nvPr/>
        </p:nvSpPr>
        <p:spPr bwMode="auto">
          <a:xfrm rot="0" flipH="0" flipV="0">
            <a:off x="6324298" y="4631583"/>
            <a:ext cx="1302056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visual features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752941699" name=""/>
          <p:cNvSpPr txBox="1"/>
          <p:nvPr/>
        </p:nvSpPr>
        <p:spPr bwMode="auto">
          <a:xfrm rot="0" flipH="0" flipV="0">
            <a:off x="8381697" y="4631583"/>
            <a:ext cx="1302415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visual features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230370767" name=""/>
          <p:cNvSpPr/>
          <p:nvPr/>
        </p:nvSpPr>
        <p:spPr bwMode="auto">
          <a:xfrm rot="0" flipH="0" flipV="0">
            <a:off x="3810954" y="3429000"/>
            <a:ext cx="6175582" cy="1566955"/>
          </a:xfrm>
          <a:prstGeom prst="flowChartAlternateProcess">
            <a:avLst/>
          </a:prstGeom>
          <a:noFill/>
          <a:ln w="1904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269453" name=""/>
          <p:cNvSpPr txBox="1"/>
          <p:nvPr/>
        </p:nvSpPr>
        <p:spPr bwMode="auto">
          <a:xfrm rot="0" flipH="0" flipV="0">
            <a:off x="1984167" y="3996583"/>
            <a:ext cx="1781559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Cross Attention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(Multi-head attention)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737869065" name=""/>
          <p:cNvSpPr/>
          <p:nvPr/>
        </p:nvSpPr>
        <p:spPr bwMode="auto">
          <a:xfrm rot="5399977" flipH="0" flipV="0">
            <a:off x="6588903" y="5155967"/>
            <a:ext cx="426593" cy="24323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89941037" name=""/>
          <p:cNvSpPr/>
          <p:nvPr/>
        </p:nvSpPr>
        <p:spPr bwMode="auto">
          <a:xfrm rot="0" flipH="0" flipV="0">
            <a:off x="6198472" y="5518999"/>
            <a:ext cx="1207455" cy="522838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Softmax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45531226" name=""/>
          <p:cNvSpPr txBox="1"/>
          <p:nvPr/>
        </p:nvSpPr>
        <p:spPr bwMode="auto">
          <a:xfrm rot="0" flipH="0" flipV="0">
            <a:off x="7688885" y="6174852"/>
            <a:ext cx="1735429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 b="1">
                <a:latin typeface="Times New Roman"/>
                <a:ea typeface="Times New Roman"/>
                <a:cs typeface="Times New Roman"/>
              </a:rPr>
              <a:t>Aligned Embedding</a:t>
            </a:r>
            <a:endParaRPr sz="1400" b="1">
              <a:latin typeface="Times New Roman"/>
              <a:ea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Num_Terms,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847596053" name=""/>
          <p:cNvSpPr/>
          <p:nvPr/>
        </p:nvSpPr>
        <p:spPr bwMode="auto">
          <a:xfrm rot="0" flipH="0" flipV="0">
            <a:off x="7620955" y="5689302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68899687" name=""/>
          <p:cNvSpPr/>
          <p:nvPr/>
        </p:nvSpPr>
        <p:spPr bwMode="auto">
          <a:xfrm rot="0" flipH="0" flipV="0">
            <a:off x="8301288" y="5203752"/>
            <a:ext cx="510263" cy="971100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30385973" name=""/>
          <p:cNvSpPr/>
          <p:nvPr/>
        </p:nvSpPr>
        <p:spPr bwMode="auto">
          <a:xfrm rot="10799989" flipH="0" flipV="0">
            <a:off x="5476253" y="5659469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347302295" name=""/>
          <p:cNvSpPr/>
          <p:nvPr/>
        </p:nvSpPr>
        <p:spPr bwMode="auto">
          <a:xfrm rot="0" flipH="0" flipV="0">
            <a:off x="5251330" y="5203752"/>
            <a:ext cx="115724" cy="971100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0807619" name=""/>
          <p:cNvSpPr txBox="1"/>
          <p:nvPr/>
        </p:nvSpPr>
        <p:spPr bwMode="auto">
          <a:xfrm rot="0" flipH="0" flipV="0">
            <a:off x="3054558" y="5490882"/>
            <a:ext cx="2126547" cy="8537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400" b="1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Likelihood</a:t>
            </a:r>
            <a:endParaRPr sz="1400" b="1"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Num_Heads, Lt, Lv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100">
                <a:latin typeface="Times New Roman"/>
                <a:cs typeface="Times New Roman"/>
              </a:rPr>
              <a:t>Lt (Lengh Textual terms)</a:t>
            </a:r>
            <a:br>
              <a:rPr sz="1100">
                <a:latin typeface="Times New Roman"/>
                <a:cs typeface="Times New Roman"/>
              </a:rPr>
            </a:br>
            <a:r>
              <a:rPr sz="1100">
                <a:latin typeface="Times New Roman"/>
                <a:cs typeface="Times New Roman"/>
              </a:rPr>
              <a:t>Lv (Lengh visual patches)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835377830" name=""/>
          <p:cNvSpPr txBox="1"/>
          <p:nvPr/>
        </p:nvSpPr>
        <p:spPr bwMode="auto">
          <a:xfrm rot="0" flipH="0" flipV="0">
            <a:off x="5643650" y="3907317"/>
            <a:ext cx="518245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X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934594483" name=""/>
          <p:cNvSpPr txBox="1"/>
          <p:nvPr/>
        </p:nvSpPr>
        <p:spPr bwMode="auto">
          <a:xfrm rot="0" flipH="0" flipV="0">
            <a:off x="7656800" y="3480746"/>
            <a:ext cx="408327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T</a:t>
            </a:r>
            <a:endParaRPr sz="1400"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279147" name=""/>
          <p:cNvSpPr/>
          <p:nvPr/>
        </p:nvSpPr>
        <p:spPr bwMode="auto">
          <a:xfrm rot="0" flipH="0" flipV="0">
            <a:off x="2037661" y="587331"/>
            <a:ext cx="1437117" cy="850755"/>
          </a:xfrm>
          <a:prstGeom prst="rect">
            <a:avLst/>
          </a:prstGeom>
          <a:gradFill>
            <a:gsLst>
              <a:gs pos="19000">
                <a:schemeClr val="accent1"/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DINOV3</a:t>
            </a:r>
            <a:r>
              <a:rPr sz="1400" b="0">
                <a:solidFill>
                  <a:schemeClr val="tx1"/>
                </a:solidFill>
                <a:latin typeface="Times New Roman"/>
                <a:cs typeface="Times New Roman"/>
              </a:rPr>
              <a:t> + Upsampler + AVG Pooling</a:t>
            </a:r>
            <a:endParaRPr sz="1400" b="0">
              <a:latin typeface="Times New Roman"/>
              <a:cs typeface="Times New Roman"/>
            </a:endParaRPr>
          </a:p>
        </p:txBody>
      </p:sp>
      <p:sp>
        <p:nvSpPr>
          <p:cNvPr id="2065955701" name=""/>
          <p:cNvSpPr/>
          <p:nvPr/>
        </p:nvSpPr>
        <p:spPr bwMode="auto">
          <a:xfrm rot="0" flipH="0" flipV="0">
            <a:off x="2037661" y="2240773"/>
            <a:ext cx="1203661" cy="701780"/>
          </a:xfrm>
          <a:prstGeom prst="rect">
            <a:avLst/>
          </a:prstGeom>
          <a:gradFill>
            <a:gsLst>
              <a:gs pos="19000">
                <a:schemeClr val="accent2">
                  <a:lumMod val="60000"/>
                  <a:lumOff val="4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2">
                <a:lumMod val="60000"/>
                <a:lumOff val="40000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QWEN3 Embeddings</a:t>
            </a:r>
            <a:endParaRPr sz="1400" b="0">
              <a:latin typeface="Times New Roman"/>
              <a:cs typeface="Times New Roman"/>
            </a:endParaRPr>
          </a:p>
        </p:txBody>
      </p:sp>
      <p:pic>
        <p:nvPicPr>
          <p:cNvPr id="46692901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83617" y="351334"/>
            <a:ext cx="1066142" cy="1738276"/>
          </a:xfrm>
          <a:prstGeom prst="rect">
            <a:avLst/>
          </a:prstGeom>
        </p:spPr>
      </p:pic>
      <p:sp>
        <p:nvSpPr>
          <p:cNvPr id="1160665756" name=""/>
          <p:cNvSpPr txBox="1"/>
          <p:nvPr/>
        </p:nvSpPr>
        <p:spPr bwMode="auto">
          <a:xfrm rot="0" flipH="0" flipV="0">
            <a:off x="61699" y="2561698"/>
            <a:ext cx="1309978" cy="579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>
                <a:latin typeface="Times New Roman"/>
                <a:cs typeface="Times New Roman"/>
              </a:rPr>
              <a:t>“the </a:t>
            </a:r>
            <a:r>
              <a:rPr lang="en-US" sz="16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orange tabby</a:t>
            </a:r>
            <a:r>
              <a:rPr sz="1600">
                <a:latin typeface="Times New Roman"/>
                <a:cs typeface="Times New Roman"/>
              </a:rPr>
              <a:t>”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316495952" name=""/>
          <p:cNvSpPr/>
          <p:nvPr/>
        </p:nvSpPr>
        <p:spPr bwMode="auto">
          <a:xfrm rot="0" flipH="0" flipV="0">
            <a:off x="3573856" y="997705"/>
            <a:ext cx="619291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03200414" name=""/>
          <p:cNvSpPr/>
          <p:nvPr/>
        </p:nvSpPr>
        <p:spPr bwMode="auto">
          <a:xfrm rot="0" flipH="0" flipV="0">
            <a:off x="1371678" y="1038240"/>
            <a:ext cx="506262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3506244" name=""/>
          <p:cNvSpPr/>
          <p:nvPr/>
        </p:nvSpPr>
        <p:spPr bwMode="auto">
          <a:xfrm rot="0" flipH="0" flipV="0">
            <a:off x="1371678" y="2561698"/>
            <a:ext cx="506261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658903551" name=""/>
          <p:cNvSpPr/>
          <p:nvPr/>
        </p:nvSpPr>
        <p:spPr bwMode="auto">
          <a:xfrm rot="0" flipH="0" flipV="0">
            <a:off x="6681925" y="605385"/>
            <a:ext cx="386885" cy="1149105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62800642" name=""/>
          <p:cNvSpPr txBox="1"/>
          <p:nvPr/>
        </p:nvSpPr>
        <p:spPr bwMode="auto">
          <a:xfrm rot="0" flipH="0" flipV="0">
            <a:off x="5915573" y="1784450"/>
            <a:ext cx="1919588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Batch, 1024, 768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654647595" name=""/>
          <p:cNvSpPr/>
          <p:nvPr/>
        </p:nvSpPr>
        <p:spPr bwMode="auto">
          <a:xfrm rot="0" flipH="0" flipV="0">
            <a:off x="4272434" y="627867"/>
            <a:ext cx="1559485" cy="922280"/>
          </a:xfrm>
          <a:prstGeom prst="rect">
            <a:avLst/>
          </a:prstGeom>
          <a:gradFill>
            <a:gsLst>
              <a:gs pos="19000">
                <a:schemeClr val="accent1"/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Squeeze + reshape + transpose operation</a:t>
            </a:r>
            <a:endParaRPr sz="1600" b="0">
              <a:latin typeface="Times New Roman"/>
              <a:cs typeface="Times New Roman"/>
            </a:endParaRPr>
          </a:p>
        </p:txBody>
      </p:sp>
      <p:sp>
        <p:nvSpPr>
          <p:cNvPr id="1042930" name=""/>
          <p:cNvSpPr/>
          <p:nvPr/>
        </p:nvSpPr>
        <p:spPr bwMode="auto">
          <a:xfrm rot="0" flipH="0" flipV="0">
            <a:off x="5887122" y="997705"/>
            <a:ext cx="619290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41827768" name=""/>
          <p:cNvSpPr/>
          <p:nvPr/>
        </p:nvSpPr>
        <p:spPr bwMode="auto">
          <a:xfrm rot="0" flipH="0" flipV="0">
            <a:off x="7754334" y="1713178"/>
            <a:ext cx="1696915" cy="752865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6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Aligner</a:t>
            </a:r>
            <a:endParaRPr sz="1600" b="1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1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(Latent Space Projection)</a:t>
            </a:r>
            <a:endParaRPr sz="16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533932107" name=""/>
          <p:cNvSpPr txBox="1"/>
          <p:nvPr/>
        </p:nvSpPr>
        <p:spPr bwMode="auto">
          <a:xfrm rot="0" flipH="0" flipV="0">
            <a:off x="3826664" y="72955"/>
            <a:ext cx="401051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1">
                <a:latin typeface="Times New Roman"/>
                <a:cs typeface="Times New Roman"/>
              </a:rPr>
              <a:t>GENERATE SCENE GRAPH</a:t>
            </a:r>
            <a:endParaRPr sz="1800" b="1">
              <a:latin typeface="Times New Roman"/>
              <a:cs typeface="Times New Roman"/>
            </a:endParaRPr>
          </a:p>
        </p:txBody>
      </p:sp>
      <p:sp>
        <p:nvSpPr>
          <p:cNvPr id="863549511" name=""/>
          <p:cNvSpPr/>
          <p:nvPr/>
        </p:nvSpPr>
        <p:spPr bwMode="auto">
          <a:xfrm rot="0" flipH="0" flipV="0">
            <a:off x="3377240" y="2561698"/>
            <a:ext cx="4888053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41376230" name=""/>
          <p:cNvSpPr/>
          <p:nvPr/>
        </p:nvSpPr>
        <p:spPr bwMode="auto">
          <a:xfrm rot="5399976" flipH="0" flipV="0">
            <a:off x="7542425" y="649858"/>
            <a:ext cx="552437" cy="1248148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39272"/>
            </a:avLst>
          </a:prstGeom>
          <a:solidFill>
            <a:schemeClr val="tx1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ONLYOFFICE/9.3.0.140</Application>
  <PresentationFormat>On-screen Show (4:3)</PresentationFormat>
  <Paragraphs>0</Paragraphs>
  <Slides>3</Slides>
  <Notes>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Theme 1</vt:lpstr>
      <vt:lpstr>Slide 1</vt:lpstr>
      <vt:lpstr>Slide 2</vt:lpstr>
      <vt:lpstr>Slide 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2026-03-02T23:18:01Z</dcterms:modified>
</cp:coreProperties>
</file>