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6"/>
  </p:notesMasterIdLst>
  <p:sldIdLst>
    <p:sldId id="256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34669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027119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7336982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3215167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6362090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147498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62746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5519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2652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FB40B8-C03E-A3D8-FACF-85666CF612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35058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665011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9595093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985860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42915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6009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312934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414612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906813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8432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63998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60016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02095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20140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90427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8769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676819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4817152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9519705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9654684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069521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561341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38366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4896986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758131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393735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1145506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870664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583216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2281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187996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6257745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88608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406168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6458482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721306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07204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2914835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0902146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859992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9676560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995741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59855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881876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96173573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3354328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6069364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66664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3238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1199905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76548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04097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56897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54921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253148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73598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315329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29292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647429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695808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7891734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3896388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3039403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587816" name=""/>
          <p:cNvSpPr/>
          <p:nvPr/>
        </p:nvSpPr>
        <p:spPr bwMode="auto">
          <a:xfrm rot="0" flipH="0" flipV="0">
            <a:off x="2056338" y="587332"/>
            <a:ext cx="1651897" cy="1002980"/>
          </a:xfrm>
          <a:prstGeom prst="rect">
            <a:avLst/>
          </a:prstGeom>
          <a:gradFill>
            <a:gsLst>
              <a:gs pos="19000">
                <a:schemeClr val="accent1"/>
              </a:gs>
              <a:gs pos="100000">
                <a:srgbClr val="FFFFFF"/>
              </a:gs>
            </a:gsLst>
            <a:lin ang="0" scaled="1"/>
          </a:gradFill>
          <a:ln w="19049" cap="flat" cmpd="sng" algn="ctr">
            <a:solidFill>
              <a:schemeClr val="accent1"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DINOV3</a:t>
            </a:r>
            <a:endParaRPr b="0">
              <a:latin typeface="Times New Roman"/>
              <a:cs typeface="Times New Roman"/>
            </a:endParaRPr>
          </a:p>
        </p:txBody>
      </p:sp>
      <p:sp>
        <p:nvSpPr>
          <p:cNvPr id="2112198299" name=""/>
          <p:cNvSpPr/>
          <p:nvPr/>
        </p:nvSpPr>
        <p:spPr bwMode="auto">
          <a:xfrm rot="0" flipH="0" flipV="0">
            <a:off x="2056338" y="2172294"/>
            <a:ext cx="1651897" cy="1022001"/>
          </a:xfrm>
          <a:prstGeom prst="rect">
            <a:avLst/>
          </a:prstGeom>
          <a:gradFill>
            <a:gsLst>
              <a:gs pos="19000">
                <a:schemeClr val="accent2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0" scaled="1"/>
          </a:gradFill>
          <a:ln w="19049" cap="flat" cmpd="sng" algn="ctr">
            <a:solidFill>
              <a:schemeClr val="accent2">
                <a:lumMod val="60000"/>
                <a:lumOff val="40000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QWEN3 Embeddings</a:t>
            </a:r>
            <a:endParaRPr b="0">
              <a:latin typeface="Times New Roman"/>
              <a:cs typeface="Times New Roman"/>
            </a:endParaRPr>
          </a:p>
        </p:txBody>
      </p:sp>
      <p:sp>
        <p:nvSpPr>
          <p:cNvPr id="1878762556" name=""/>
          <p:cNvSpPr/>
          <p:nvPr/>
        </p:nvSpPr>
        <p:spPr bwMode="auto">
          <a:xfrm rot="0" flipH="0" flipV="0">
            <a:off x="4648061" y="694980"/>
            <a:ext cx="179649" cy="668849"/>
          </a:xfrm>
          <a:prstGeom prst="cube">
            <a:avLst>
              <a:gd name="adj" fmla="val 25000"/>
            </a:avLst>
          </a:prstGeom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463500821" name=""/>
          <p:cNvSpPr txBox="1"/>
          <p:nvPr/>
        </p:nvSpPr>
        <p:spPr bwMode="auto">
          <a:xfrm rot="0" flipH="0" flipV="0">
            <a:off x="4104496" y="1423918"/>
            <a:ext cx="126678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Times New Roman"/>
                <a:ea typeface="Times New Roman"/>
                <a:cs typeface="Times New Roman"/>
              </a:rPr>
              <a:t>Batch, 768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62717940" name=""/>
          <p:cNvSpPr/>
          <p:nvPr/>
        </p:nvSpPr>
        <p:spPr bwMode="auto">
          <a:xfrm rot="0" flipH="0" flipV="0">
            <a:off x="5877881" y="587332"/>
            <a:ext cx="1450413" cy="884145"/>
          </a:xfrm>
          <a:prstGeom prst="rect">
            <a:avLst/>
          </a:prstGeom>
          <a:solidFill>
            <a:srgbClr val="FF0000">
              <a:alpha val="44999"/>
            </a:srgbClr>
          </a:solidFill>
          <a:ln w="19049" cap="flat" cmpd="sng" algn="ctr">
            <a:solidFill>
              <a:schemeClr val="tx1"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14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UPSAMPLER</a:t>
            </a:r>
            <a:endParaRPr b="0">
              <a:latin typeface="Times New Roman"/>
              <a:cs typeface="Times New Roman"/>
            </a:endParaRPr>
          </a:p>
        </p:txBody>
      </p:sp>
      <p:sp>
        <p:nvSpPr>
          <p:cNvPr id="80758464" name=""/>
          <p:cNvSpPr txBox="1"/>
          <p:nvPr/>
        </p:nvSpPr>
        <p:spPr bwMode="auto">
          <a:xfrm rot="0" flipH="0" flipV="0">
            <a:off x="7659884" y="1608817"/>
            <a:ext cx="190662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Times New Roman"/>
                <a:ea typeface="Times New Roman"/>
                <a:cs typeface="Times New Roman"/>
              </a:rPr>
              <a:t>Batch, 768, 224, 224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07390435" name=""/>
          <p:cNvSpPr/>
          <p:nvPr/>
        </p:nvSpPr>
        <p:spPr bwMode="auto">
          <a:xfrm rot="0" flipH="0" flipV="0">
            <a:off x="141029" y="808859"/>
            <a:ext cx="1512793" cy="2291434"/>
          </a:xfrm>
          <a:prstGeom prst="cube">
            <a:avLst>
              <a:gd name="adj" fmla="val 25000"/>
            </a:avLst>
          </a:prstGeom>
          <a:gradFill>
            <a:gsLst>
              <a:gs pos="0">
                <a:schemeClr val="accent1">
                  <a:alpha val="99999"/>
                </a:schemeClr>
              </a:gs>
              <a:gs pos="100000">
                <a:schemeClr val="accent2">
                  <a:lumMod val="60000"/>
                  <a:lumOff val="40000"/>
                  <a:alpha val="99999"/>
                </a:schemeClr>
              </a:gs>
            </a:gsLst>
            <a:lin ang="0" scaled="1"/>
          </a:gradFill>
          <a:ln w="12700" cap="flat" cmpd="sng" algn="ctr">
            <a:solidFill>
              <a:schemeClr val="accent1">
                <a:shade val="50000"/>
                <a:alpha val="84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18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Images</a:t>
            </a:r>
            <a:endParaRPr sz="18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sz="18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And </a:t>
            </a:r>
            <a:endParaRPr sz="18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sz="18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Captions</a:t>
            </a:r>
            <a:endParaRPr sz="2000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309775709" name=""/>
          <p:cNvSpPr/>
          <p:nvPr/>
        </p:nvSpPr>
        <p:spPr bwMode="auto">
          <a:xfrm rot="0" flipH="0" flipV="0">
            <a:off x="4387680" y="2144904"/>
            <a:ext cx="1186738" cy="1017915"/>
          </a:xfrm>
          <a:prstGeom prst="cube">
            <a:avLst>
              <a:gd name="adj" fmla="val 25000"/>
            </a:avLst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2013582902" name=""/>
          <p:cNvSpPr txBox="1"/>
          <p:nvPr/>
        </p:nvSpPr>
        <p:spPr bwMode="auto">
          <a:xfrm rot="0" flipH="0" flipV="0">
            <a:off x="4290613" y="3291660"/>
            <a:ext cx="12696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Times New Roman"/>
                <a:ea typeface="Times New Roman"/>
                <a:cs typeface="Times New Roman"/>
              </a:rPr>
              <a:t>Batch, 4096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31977481" name=""/>
          <p:cNvSpPr/>
          <p:nvPr/>
        </p:nvSpPr>
        <p:spPr bwMode="auto">
          <a:xfrm rot="0" flipH="0" flipV="0">
            <a:off x="3810955" y="981845"/>
            <a:ext cx="479657" cy="18223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474296952" name=""/>
          <p:cNvSpPr/>
          <p:nvPr/>
        </p:nvSpPr>
        <p:spPr bwMode="auto">
          <a:xfrm rot="0" flipH="0" flipV="0">
            <a:off x="8046021" y="511416"/>
            <a:ext cx="1185838" cy="1080868"/>
          </a:xfrm>
          <a:prstGeom prst="cube">
            <a:avLst>
              <a:gd name="adj" fmla="val 25000"/>
            </a:avLst>
          </a:prstGeom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2131415118" name=""/>
          <p:cNvSpPr/>
          <p:nvPr/>
        </p:nvSpPr>
        <p:spPr bwMode="auto">
          <a:xfrm rot="0" flipH="0" flipV="0">
            <a:off x="5224772" y="938288"/>
            <a:ext cx="507088" cy="18223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195896855" name=""/>
          <p:cNvSpPr/>
          <p:nvPr/>
        </p:nvSpPr>
        <p:spPr bwMode="auto">
          <a:xfrm rot="0" flipH="0" flipV="0">
            <a:off x="7406340" y="981845"/>
            <a:ext cx="507087" cy="18223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769312677" name=""/>
          <p:cNvSpPr txBox="1"/>
          <p:nvPr/>
        </p:nvSpPr>
        <p:spPr bwMode="auto">
          <a:xfrm rot="0" flipH="0" flipV="0">
            <a:off x="5594558" y="1471477"/>
            <a:ext cx="191958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Times New Roman"/>
                <a:ea typeface="Times New Roman"/>
                <a:cs typeface="Times New Roman"/>
              </a:rPr>
              <a:t>E.g. AnyUP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52150878" name=""/>
          <p:cNvSpPr/>
          <p:nvPr/>
        </p:nvSpPr>
        <p:spPr bwMode="auto">
          <a:xfrm rot="0" flipH="0" flipV="0">
            <a:off x="9933913" y="571471"/>
            <a:ext cx="1450413" cy="884144"/>
          </a:xfrm>
          <a:prstGeom prst="rect">
            <a:avLst/>
          </a:prstGeom>
          <a:solidFill>
            <a:schemeClr val="accent6">
              <a:alpha val="66000"/>
            </a:schemeClr>
          </a:solidFill>
          <a:ln w="19049" cap="flat" cmpd="sng" algn="ctr">
            <a:solidFill>
              <a:schemeClr val="tx1"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14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AVG Pooling</a:t>
            </a:r>
            <a:endParaRPr b="0">
              <a:latin typeface="Times New Roman"/>
              <a:cs typeface="Times New Roman"/>
            </a:endParaRPr>
          </a:p>
        </p:txBody>
      </p:sp>
      <p:sp>
        <p:nvSpPr>
          <p:cNvPr id="1351673339" name=""/>
          <p:cNvSpPr txBox="1"/>
          <p:nvPr/>
        </p:nvSpPr>
        <p:spPr bwMode="auto">
          <a:xfrm rot="0" flipH="0" flipV="0">
            <a:off x="9798000" y="3291660"/>
            <a:ext cx="190518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Times New Roman"/>
                <a:ea typeface="Times New Roman"/>
                <a:cs typeface="Times New Roman"/>
              </a:rPr>
              <a:t>Batch, 768, 32, 32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33432704" name=""/>
          <p:cNvSpPr/>
          <p:nvPr/>
        </p:nvSpPr>
        <p:spPr bwMode="auto">
          <a:xfrm rot="0" flipH="0" flipV="0">
            <a:off x="9312556" y="890729"/>
            <a:ext cx="507087" cy="18223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2072352170" name=""/>
          <p:cNvSpPr/>
          <p:nvPr/>
        </p:nvSpPr>
        <p:spPr bwMode="auto">
          <a:xfrm rot="0" flipH="0" flipV="0">
            <a:off x="10317822" y="2113427"/>
            <a:ext cx="682594" cy="1080867"/>
          </a:xfrm>
          <a:prstGeom prst="cube">
            <a:avLst>
              <a:gd name="adj" fmla="val 25000"/>
            </a:avLst>
          </a:prstGeom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835518524" name=""/>
          <p:cNvSpPr/>
          <p:nvPr/>
        </p:nvSpPr>
        <p:spPr bwMode="auto">
          <a:xfrm rot="5399978" flipH="0" flipV="0">
            <a:off x="10405576" y="1715762"/>
            <a:ext cx="507087" cy="18223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878748202" name=""/>
          <p:cNvSpPr/>
          <p:nvPr/>
        </p:nvSpPr>
        <p:spPr bwMode="auto">
          <a:xfrm rot="0" flipH="0" flipV="0">
            <a:off x="3810955" y="2705802"/>
            <a:ext cx="479656" cy="18223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411988997" name=""/>
          <p:cNvSpPr/>
          <p:nvPr/>
        </p:nvSpPr>
        <p:spPr bwMode="auto">
          <a:xfrm rot="0" flipH="0" flipV="0">
            <a:off x="6884570" y="3855825"/>
            <a:ext cx="2322902" cy="1307350"/>
          </a:xfrm>
          <a:prstGeom prst="rect">
            <a:avLst/>
          </a:prstGeom>
          <a:gradFill>
            <a:gsLst>
              <a:gs pos="19000">
                <a:schemeClr val="tx1">
                  <a:lumMod val="50000"/>
                  <a:lumOff val="50000"/>
                </a:schemeClr>
              </a:gs>
              <a:gs pos="100000">
                <a:srgbClr val="FFFFFF"/>
              </a:gs>
            </a:gsLst>
            <a:lin ang="0" scaled="1"/>
          </a:gradFill>
          <a:ln w="19049" cap="flat" cmpd="sng" algn="ctr">
            <a:solidFill>
              <a:schemeClr val="tx1">
                <a:lumMod val="65098"/>
                <a:lumOff val="34902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2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Aligner</a:t>
            </a:r>
            <a:endParaRPr sz="2200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(Latent Space Projection)</a:t>
            </a:r>
            <a:endParaRPr sz="2200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63849788" name=""/>
          <p:cNvSpPr/>
          <p:nvPr/>
        </p:nvSpPr>
        <p:spPr bwMode="auto">
          <a:xfrm rot="5399978" flipH="0" flipV="0">
            <a:off x="6259949" y="2271794"/>
            <a:ext cx="1017867" cy="1782003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39272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952972620" name=""/>
          <p:cNvSpPr/>
          <p:nvPr/>
        </p:nvSpPr>
        <p:spPr bwMode="auto">
          <a:xfrm rot="5399978" flipH="0" flipV="1">
            <a:off x="8722926" y="2271793"/>
            <a:ext cx="1017866" cy="1782002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39272"/>
            </a:avLst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427565375" name=""/>
          <p:cNvSpPr/>
          <p:nvPr/>
        </p:nvSpPr>
        <p:spPr bwMode="auto">
          <a:xfrm rot="7959655" flipH="0" flipV="0">
            <a:off x="1401051" y="1429554"/>
            <a:ext cx="858220" cy="858637"/>
          </a:xfrm>
          <a:prstGeom prst="leftUpArrow">
            <a:avLst>
              <a:gd name="adj1" fmla="val 25000"/>
              <a:gd name="adj2" fmla="val 25000"/>
              <a:gd name="adj3" fmla="val 25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  <a:ln w="12700" cap="flat" cmpd="sng" algn="ctr">
            <a:solidFill>
              <a:schemeClr val="accent1">
                <a:shade val="50000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23560613" name=""/>
          <p:cNvSpPr txBox="1"/>
          <p:nvPr/>
        </p:nvSpPr>
        <p:spPr bwMode="auto">
          <a:xfrm rot="0" flipH="0" flipV="0">
            <a:off x="4981050" y="72956"/>
            <a:ext cx="184056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1">
                <a:latin typeface="Times New Roman"/>
                <a:cs typeface="Times New Roman"/>
              </a:rPr>
              <a:t>TRAINING</a:t>
            </a:r>
            <a:endParaRPr sz="1800" b="1">
              <a:latin typeface="Times New Roman"/>
              <a:cs typeface="Times New Roman"/>
            </a:endParaRPr>
          </a:p>
        </p:txBody>
      </p:sp>
      <p:sp>
        <p:nvSpPr>
          <p:cNvPr id="1629433810" name=""/>
          <p:cNvSpPr/>
          <p:nvPr/>
        </p:nvSpPr>
        <p:spPr bwMode="auto">
          <a:xfrm rot="0" flipH="0" flipV="0">
            <a:off x="7406340" y="5832788"/>
            <a:ext cx="1425668" cy="461181"/>
          </a:xfrm>
          <a:prstGeom prst="rect">
            <a:avLst/>
          </a:prstGeom>
          <a:gradFill>
            <a:gsLst>
              <a:gs pos="19000">
                <a:schemeClr val="tx1">
                  <a:lumMod val="50000"/>
                  <a:lumOff val="50000"/>
                </a:schemeClr>
              </a:gs>
              <a:gs pos="100000">
                <a:srgbClr val="FFFFFF"/>
              </a:gs>
            </a:gsLst>
            <a:lin ang="0" scaled="1"/>
          </a:gradFill>
          <a:ln w="19049" cap="flat" cmpd="sng" algn="ctr">
            <a:solidFill>
              <a:schemeClr val="tx1">
                <a:lumMod val="65098"/>
                <a:lumOff val="34902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Constrative loss</a:t>
            </a:r>
            <a:endParaRPr sz="2200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47346234" name=""/>
          <p:cNvSpPr/>
          <p:nvPr/>
        </p:nvSpPr>
        <p:spPr bwMode="auto">
          <a:xfrm rot="5399978" flipH="0" flipV="0">
            <a:off x="7865630" y="5429234"/>
            <a:ext cx="507087" cy="18223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737966" name=""/>
          <p:cNvSpPr/>
          <p:nvPr/>
        </p:nvSpPr>
        <p:spPr bwMode="auto">
          <a:xfrm rot="0" flipH="0" flipV="0">
            <a:off x="1825935" y="1251902"/>
            <a:ext cx="1604841" cy="990718"/>
          </a:xfrm>
          <a:prstGeom prst="rect">
            <a:avLst/>
          </a:prstGeom>
          <a:gradFill>
            <a:gsLst>
              <a:gs pos="19000">
                <a:schemeClr val="tx1">
                  <a:lumMod val="50000"/>
                  <a:lumOff val="50000"/>
                </a:schemeClr>
              </a:gs>
              <a:gs pos="100000">
                <a:srgbClr val="FFFFFF"/>
              </a:gs>
            </a:gsLst>
            <a:lin ang="0" scaled="1"/>
          </a:gradFill>
          <a:ln w="19049" cap="flat" cmpd="sng" algn="ctr">
            <a:solidFill>
              <a:schemeClr val="tx1">
                <a:lumMod val="65098"/>
                <a:lumOff val="34902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Affine linear transformation</a:t>
            </a:r>
            <a:endParaRPr sz="2200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330789754" name=""/>
          <p:cNvSpPr/>
          <p:nvPr/>
        </p:nvSpPr>
        <p:spPr bwMode="auto">
          <a:xfrm rot="0" flipH="0" flipV="0">
            <a:off x="351870" y="979648"/>
            <a:ext cx="624199" cy="544507"/>
          </a:xfrm>
          <a:prstGeom prst="cube">
            <a:avLst>
              <a:gd name="adj" fmla="val 25000"/>
            </a:avLst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91813478" name=""/>
          <p:cNvSpPr/>
          <p:nvPr/>
        </p:nvSpPr>
        <p:spPr bwMode="auto">
          <a:xfrm rot="0" flipH="0" flipV="0">
            <a:off x="463929" y="1655854"/>
            <a:ext cx="400081" cy="632013"/>
          </a:xfrm>
          <a:prstGeom prst="cube">
            <a:avLst>
              <a:gd name="adj" fmla="val 25000"/>
            </a:avLst>
          </a:prstGeom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825126795" name=""/>
          <p:cNvSpPr/>
          <p:nvPr/>
        </p:nvSpPr>
        <p:spPr bwMode="auto">
          <a:xfrm rot="0" flipH="0" flipV="0">
            <a:off x="267826" y="812426"/>
            <a:ext cx="812426" cy="1624852"/>
          </a:xfrm>
          <a:prstGeom prst="flowChartAlternateProcess">
            <a:avLst/>
          </a:prstGeom>
          <a:noFill/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58035739" name=""/>
          <p:cNvSpPr txBox="1"/>
          <p:nvPr/>
        </p:nvSpPr>
        <p:spPr bwMode="auto">
          <a:xfrm rot="0" flipH="0" flipV="0">
            <a:off x="28960" y="2525924"/>
            <a:ext cx="1295219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Times New Roman"/>
                <a:cs typeface="Times New Roman"/>
              </a:rPr>
              <a:t>Embeddings</a:t>
            </a:r>
            <a:endParaRPr sz="1400"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sz="1400">
                <a:latin typeface="Times New Roman"/>
                <a:cs typeface="Times New Roman"/>
              </a:rPr>
              <a:t>with mismatch shapes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61828217" name=""/>
          <p:cNvSpPr/>
          <p:nvPr/>
        </p:nvSpPr>
        <p:spPr bwMode="auto">
          <a:xfrm rot="0" flipH="0" flipV="0">
            <a:off x="4289461" y="979648"/>
            <a:ext cx="624198" cy="544506"/>
          </a:xfrm>
          <a:prstGeom prst="cube">
            <a:avLst>
              <a:gd name="adj" fmla="val 25000"/>
            </a:avLst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88468614" name=""/>
          <p:cNvSpPr/>
          <p:nvPr/>
        </p:nvSpPr>
        <p:spPr bwMode="auto">
          <a:xfrm rot="0" flipH="0" flipV="0">
            <a:off x="4205418" y="812426"/>
            <a:ext cx="812425" cy="1624851"/>
          </a:xfrm>
          <a:prstGeom prst="flowChartAlternateProcess">
            <a:avLst/>
          </a:prstGeom>
          <a:noFill/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0476364" name=""/>
          <p:cNvSpPr txBox="1"/>
          <p:nvPr/>
        </p:nvSpPr>
        <p:spPr bwMode="auto">
          <a:xfrm rot="0" flipH="0" flipV="0">
            <a:off x="3966552" y="2525924"/>
            <a:ext cx="1284778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Embeddings</a:t>
            </a:r>
            <a:endParaRPr sz="1400"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with match shapes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69719554" name=""/>
          <p:cNvSpPr/>
          <p:nvPr/>
        </p:nvSpPr>
        <p:spPr bwMode="auto">
          <a:xfrm rot="0" flipH="0" flipV="0">
            <a:off x="4289461" y="1747261"/>
            <a:ext cx="624198" cy="544506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234066283" name=""/>
          <p:cNvSpPr/>
          <p:nvPr/>
        </p:nvSpPr>
        <p:spPr bwMode="auto">
          <a:xfrm rot="0" flipH="0" flipV="0">
            <a:off x="1196249" y="1624852"/>
            <a:ext cx="479656" cy="18223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605695488" name=""/>
          <p:cNvSpPr/>
          <p:nvPr/>
        </p:nvSpPr>
        <p:spPr bwMode="auto">
          <a:xfrm rot="0" flipH="0" flipV="0">
            <a:off x="3571126" y="1624852"/>
            <a:ext cx="479656" cy="18223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2091639205" name=""/>
          <p:cNvSpPr txBox="1"/>
          <p:nvPr/>
        </p:nvSpPr>
        <p:spPr bwMode="auto">
          <a:xfrm rot="0" flipH="0" flipV="0">
            <a:off x="1984167" y="2284698"/>
            <a:ext cx="128837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Times New Roman"/>
                <a:cs typeface="Times New Roman"/>
              </a:rPr>
              <a:t>(Bias = True)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56457995" name=""/>
          <p:cNvSpPr/>
          <p:nvPr/>
        </p:nvSpPr>
        <p:spPr bwMode="auto">
          <a:xfrm rot="0" flipH="0" flipV="0">
            <a:off x="6095999" y="922917"/>
            <a:ext cx="1412400" cy="1603007"/>
          </a:xfrm>
          <a:prstGeom prst="rect">
            <a:avLst/>
          </a:prstGeom>
          <a:gradFill>
            <a:gsLst>
              <a:gs pos="19000">
                <a:schemeClr val="tx1">
                  <a:lumMod val="50000"/>
                  <a:lumOff val="50000"/>
                </a:schemeClr>
              </a:gs>
              <a:gs pos="100000">
                <a:srgbClr val="FFFFFF"/>
              </a:gs>
            </a:gsLst>
            <a:lin ang="0" scaled="1"/>
          </a:gradFill>
          <a:ln w="19049" cap="flat" cmpd="sng" algn="ctr">
            <a:solidFill>
              <a:schemeClr val="tx1">
                <a:lumMod val="65098"/>
                <a:lumOff val="34902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LoRA</a:t>
            </a:r>
            <a:endParaRPr sz="3600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2000062697" name=""/>
          <p:cNvSpPr/>
          <p:nvPr/>
        </p:nvSpPr>
        <p:spPr bwMode="auto">
          <a:xfrm rot="0" flipH="0" flipV="0">
            <a:off x="5367055" y="1595019"/>
            <a:ext cx="479656" cy="18223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829542684" name=""/>
          <p:cNvSpPr txBox="1"/>
          <p:nvPr/>
        </p:nvSpPr>
        <p:spPr bwMode="auto">
          <a:xfrm rot="0" flipH="0" flipV="0">
            <a:off x="7620955" y="931761"/>
            <a:ext cx="4339332" cy="1585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Times New Roman"/>
                <a:cs typeface="Times New Roman"/>
              </a:rPr>
              <a:t>Base = </a:t>
            </a:r>
            <a:r>
              <a:rPr sz="1400">
                <a:latin typeface="Times New Roman"/>
                <a:cs typeface="Times New Roman"/>
              </a:rPr>
              <a:t> [B, 1024, 4096]</a:t>
            </a:r>
            <a:r>
              <a:rPr sz="1400">
                <a:latin typeface="Times New Roman"/>
                <a:cs typeface="Times New Roman"/>
              </a:rPr>
              <a:t> after linear layer (1024 patches)</a:t>
            </a:r>
            <a:endParaRPr sz="1400">
              <a:latin typeface="Times New Roman"/>
              <a:cs typeface="Times New Roman"/>
            </a:endParaRPr>
          </a:p>
          <a:p>
            <a:pPr algn="l">
              <a:defRPr/>
            </a:pPr>
            <a:r>
              <a:rPr sz="1400">
                <a:latin typeface="Times New Roman"/>
                <a:cs typeface="Times New Roman"/>
              </a:rPr>
              <a:t>Rank = 16</a:t>
            </a:r>
            <a:endParaRPr sz="1400">
              <a:latin typeface="Times New Roman"/>
              <a:cs typeface="Times New Roman"/>
            </a:endParaRPr>
          </a:p>
          <a:p>
            <a:pPr algn="l">
              <a:defRPr/>
            </a:pPr>
            <a:r>
              <a:rPr sz="1400">
                <a:latin typeface="Times New Roman"/>
                <a:cs typeface="Times New Roman"/>
              </a:rPr>
              <a:t>Matrix A = [768, rank] </a:t>
            </a:r>
            <a:endParaRPr sz="1400">
              <a:latin typeface="Times New Roman"/>
              <a:cs typeface="Times New Roman"/>
            </a:endParaRPr>
          </a:p>
          <a:p>
            <a:pPr algn="l">
              <a:defRPr/>
            </a:pPr>
            <a:r>
              <a:rPr sz="1400">
                <a:latin typeface="Times New Roman"/>
                <a:cs typeface="Times New Roman"/>
              </a:rPr>
              <a:t>Operation 1 : </a:t>
            </a:r>
            <a:r>
              <a:rPr sz="1400">
                <a:latin typeface="Times New Roman"/>
                <a:cs typeface="Times New Roman"/>
              </a:rPr>
              <a:t> Base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X Matrix A = [B, 1024, 16]</a:t>
            </a:r>
            <a:endParaRPr sz="1400"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Matrix B = [16, 4096]</a:t>
            </a:r>
            <a:endParaRPr sz="1400">
              <a:latin typeface="Times New Roman"/>
              <a:cs typeface="Times New Roman"/>
            </a:endParaRPr>
          </a:p>
          <a:p>
            <a:pPr algn="l">
              <a:defRPr/>
            </a:pPr>
            <a:r>
              <a:rPr sz="1400">
                <a:latin typeface="Times New Roman"/>
                <a:cs typeface="Times New Roman"/>
              </a:rPr>
              <a:t>Operation 2 : 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Operation 1 X Matrix B = [B, 1024, 4096]</a:t>
            </a:r>
            <a:endParaRPr lang="en-US" sz="14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sz="1400">
                <a:latin typeface="Times New Roman"/>
                <a:cs typeface="Times New Roman"/>
              </a:rPr>
              <a:t>Residual operation = Base + (Operation 2 *  (32 / rank))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65193096" name=""/>
          <p:cNvSpPr txBox="1"/>
          <p:nvPr/>
        </p:nvSpPr>
        <p:spPr bwMode="auto">
          <a:xfrm rot="0" flipH="0" flipV="0">
            <a:off x="4981050" y="72956"/>
            <a:ext cx="184344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1">
                <a:latin typeface="Times New Roman"/>
                <a:cs typeface="Times New Roman"/>
              </a:rPr>
              <a:t>ALIGNER</a:t>
            </a:r>
            <a:endParaRPr sz="1800" b="1">
              <a:latin typeface="Times New Roman"/>
              <a:cs typeface="Times New Roman"/>
            </a:endParaRPr>
          </a:p>
        </p:txBody>
      </p:sp>
      <p:sp>
        <p:nvSpPr>
          <p:cNvPr id="201324682" name=""/>
          <p:cNvSpPr/>
          <p:nvPr/>
        </p:nvSpPr>
        <p:spPr bwMode="auto">
          <a:xfrm rot="5399978" flipH="0" flipV="0">
            <a:off x="6447335" y="2885282"/>
            <a:ext cx="709728" cy="24323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254999616" name=""/>
          <p:cNvSpPr/>
          <p:nvPr/>
        </p:nvSpPr>
        <p:spPr bwMode="auto">
          <a:xfrm rot="0" flipH="0" flipV="0">
            <a:off x="4111240" y="3580110"/>
            <a:ext cx="1604840" cy="990718"/>
          </a:xfrm>
          <a:prstGeom prst="rect">
            <a:avLst/>
          </a:pr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accent6"/>
              </a:gs>
            </a:gsLst>
            <a:lin ang="0" scaled="1"/>
          </a:gradFill>
          <a:ln w="19049" cap="flat" cmpd="sng" algn="ctr">
            <a:solidFill>
              <a:schemeClr val="tx1">
                <a:lumMod val="65098"/>
                <a:lumOff val="34902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Query</a:t>
            </a:r>
            <a:endParaRPr sz="2200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463988303" name=""/>
          <p:cNvSpPr/>
          <p:nvPr/>
        </p:nvSpPr>
        <p:spPr bwMode="auto">
          <a:xfrm rot="0" flipH="0" flipV="0">
            <a:off x="6121397" y="3580110"/>
            <a:ext cx="1604840" cy="990718"/>
          </a:xfrm>
          <a:prstGeom prst="rect">
            <a:avLst/>
          </a:prstGeom>
          <a:gradFill>
            <a:gsLst>
              <a:gs pos="0">
                <a:schemeClr val="tx1">
                  <a:lumMod val="50000"/>
                  <a:lumOff val="50000"/>
                  <a:alpha val="81000"/>
                </a:schemeClr>
              </a:gs>
              <a:gs pos="100000">
                <a:srgbClr val="FF0000">
                  <a:alpha val="81000"/>
                </a:srgbClr>
              </a:gs>
            </a:gsLst>
            <a:lin ang="0" scaled="1"/>
          </a:gradFill>
          <a:ln w="19049" cap="flat" cmpd="sng" algn="ctr">
            <a:solidFill>
              <a:schemeClr val="tx1">
                <a:lumMod val="65098"/>
                <a:lumOff val="34902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Key</a:t>
            </a:r>
            <a:endParaRPr sz="2200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53655163" name=""/>
          <p:cNvSpPr/>
          <p:nvPr/>
        </p:nvSpPr>
        <p:spPr bwMode="auto">
          <a:xfrm rot="0" flipH="0" flipV="0">
            <a:off x="8181640" y="3580110"/>
            <a:ext cx="1604840" cy="990718"/>
          </a:xfrm>
          <a:prstGeom prst="rect">
            <a:avLst/>
          </a:pr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accent1"/>
              </a:gs>
            </a:gsLst>
            <a:lin ang="0" scaled="1"/>
          </a:gradFill>
          <a:ln w="19049" cap="flat" cmpd="sng" algn="ctr">
            <a:solidFill>
              <a:schemeClr val="tx1">
                <a:lumMod val="65098"/>
                <a:lumOff val="34902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Value</a:t>
            </a:r>
            <a:endParaRPr sz="2200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490043761" name=""/>
          <p:cNvSpPr txBox="1"/>
          <p:nvPr/>
        </p:nvSpPr>
        <p:spPr bwMode="auto">
          <a:xfrm rot="0" flipH="0" flipV="0">
            <a:off x="4269291" y="4631583"/>
            <a:ext cx="12962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Times New Roman"/>
                <a:cs typeface="Times New Roman"/>
              </a:rPr>
              <a:t>Text_queries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72551906" name=""/>
          <p:cNvSpPr txBox="1"/>
          <p:nvPr/>
        </p:nvSpPr>
        <p:spPr bwMode="auto">
          <a:xfrm rot="0" flipH="0" flipV="0">
            <a:off x="6324298" y="4631583"/>
            <a:ext cx="130205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Times New Roman"/>
                <a:cs typeface="Times New Roman"/>
              </a:rPr>
              <a:t>visual features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55117497" name=""/>
          <p:cNvSpPr txBox="1"/>
          <p:nvPr/>
        </p:nvSpPr>
        <p:spPr bwMode="auto">
          <a:xfrm rot="0" flipH="0" flipV="0">
            <a:off x="8381697" y="4631583"/>
            <a:ext cx="130241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Times New Roman"/>
                <a:cs typeface="Times New Roman"/>
              </a:rPr>
              <a:t>visual features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56700138" name=""/>
          <p:cNvSpPr/>
          <p:nvPr/>
        </p:nvSpPr>
        <p:spPr bwMode="auto">
          <a:xfrm rot="0" flipH="0" flipV="0">
            <a:off x="3810954" y="3429000"/>
            <a:ext cx="6175583" cy="1566955"/>
          </a:xfrm>
          <a:prstGeom prst="flowChartAlternateProcess">
            <a:avLst/>
          </a:prstGeom>
          <a:noFill/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6372373" name=""/>
          <p:cNvSpPr txBox="1"/>
          <p:nvPr/>
        </p:nvSpPr>
        <p:spPr bwMode="auto">
          <a:xfrm rot="0" flipH="0" flipV="0">
            <a:off x="1984167" y="3996583"/>
            <a:ext cx="178155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Times New Roman"/>
                <a:cs typeface="Times New Roman"/>
              </a:rPr>
              <a:t>Cross Attention</a:t>
            </a:r>
            <a:endParaRPr sz="1400"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sz="1400">
                <a:latin typeface="Times New Roman"/>
                <a:cs typeface="Times New Roman"/>
              </a:rPr>
              <a:t>(Multi-head attention)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26380535" name=""/>
          <p:cNvSpPr/>
          <p:nvPr/>
        </p:nvSpPr>
        <p:spPr bwMode="auto">
          <a:xfrm rot="5399978" flipH="0" flipV="0">
            <a:off x="6588903" y="5155967"/>
            <a:ext cx="426593" cy="24323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49149895" name=""/>
          <p:cNvSpPr/>
          <p:nvPr/>
        </p:nvSpPr>
        <p:spPr bwMode="auto">
          <a:xfrm rot="0" flipH="0" flipV="0">
            <a:off x="6198472" y="5518999"/>
            <a:ext cx="1207455" cy="522838"/>
          </a:xfrm>
          <a:prstGeom prst="rect">
            <a:avLst/>
          </a:prstGeom>
          <a:gradFill>
            <a:gsLst>
              <a:gs pos="19000">
                <a:schemeClr val="tx1">
                  <a:lumMod val="50000"/>
                  <a:lumOff val="50000"/>
                </a:schemeClr>
              </a:gs>
              <a:gs pos="100000">
                <a:srgbClr val="FFFFFF"/>
              </a:gs>
            </a:gsLst>
            <a:lin ang="0" scaled="1"/>
          </a:gradFill>
          <a:ln w="19049" cap="flat" cmpd="sng" algn="ctr">
            <a:solidFill>
              <a:schemeClr val="tx1">
                <a:lumMod val="65098"/>
                <a:lumOff val="34902"/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Softmax</a:t>
            </a:r>
            <a:endParaRPr sz="2200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727930373" name=""/>
          <p:cNvSpPr txBox="1"/>
          <p:nvPr/>
        </p:nvSpPr>
        <p:spPr bwMode="auto">
          <a:xfrm rot="0" flipH="0" flipV="0">
            <a:off x="7688885" y="6174853"/>
            <a:ext cx="173542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 b="1">
                <a:latin typeface="Times New Roman"/>
                <a:ea typeface="Times New Roman"/>
                <a:cs typeface="Times New Roman"/>
              </a:rPr>
              <a:t>Aligned Embedding</a:t>
            </a:r>
            <a:endParaRPr sz="1400" b="1">
              <a:latin typeface="Times New Roman"/>
              <a:ea typeface="Times New Roman"/>
              <a:cs typeface="Times New Roman"/>
            </a:endParaRPr>
          </a:p>
          <a:p>
            <a:pPr algn="l">
              <a:defRPr/>
            </a:pPr>
            <a:r>
              <a:rPr sz="1400">
                <a:latin typeface="Times New Roman"/>
                <a:ea typeface="Times New Roman"/>
                <a:cs typeface="Times New Roman"/>
              </a:rPr>
              <a:t>B, Num_Terms, 4096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8399591" name=""/>
          <p:cNvSpPr/>
          <p:nvPr/>
        </p:nvSpPr>
        <p:spPr bwMode="auto">
          <a:xfrm rot="0" flipH="0" flipV="0">
            <a:off x="7620955" y="5689302"/>
            <a:ext cx="479656" cy="18223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214072604" name=""/>
          <p:cNvSpPr/>
          <p:nvPr/>
        </p:nvSpPr>
        <p:spPr bwMode="auto">
          <a:xfrm rot="0" flipH="0" flipV="0">
            <a:off x="8301288" y="5203752"/>
            <a:ext cx="510263" cy="971100"/>
          </a:xfrm>
          <a:prstGeom prst="cube">
            <a:avLst>
              <a:gd name="adj" fmla="val 25000"/>
            </a:avLst>
          </a:prstGeom>
          <a:solidFill>
            <a:srgbClr val="CF73E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819522939" name=""/>
          <p:cNvSpPr/>
          <p:nvPr/>
        </p:nvSpPr>
        <p:spPr bwMode="auto">
          <a:xfrm rot="10799990" flipH="0" flipV="0">
            <a:off x="5476253" y="5659469"/>
            <a:ext cx="479656" cy="18223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62822847" name=""/>
          <p:cNvSpPr/>
          <p:nvPr/>
        </p:nvSpPr>
        <p:spPr bwMode="auto">
          <a:xfrm rot="0" flipH="0" flipV="0">
            <a:off x="5251330" y="5203752"/>
            <a:ext cx="115724" cy="971100"/>
          </a:xfrm>
          <a:prstGeom prst="cube">
            <a:avLst>
              <a:gd name="adj" fmla="val 25000"/>
            </a:avLst>
          </a:prstGeom>
          <a:solidFill>
            <a:srgbClr val="CF73E6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333344329" name=""/>
          <p:cNvSpPr txBox="1"/>
          <p:nvPr/>
        </p:nvSpPr>
        <p:spPr bwMode="auto">
          <a:xfrm rot="0" flipH="0" flipV="0">
            <a:off x="3054558" y="5490882"/>
            <a:ext cx="2126547" cy="8537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4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Likelihood</a:t>
            </a:r>
            <a:endParaRPr sz="1400" b="1">
              <a:latin typeface="Times New Roman"/>
              <a:ea typeface="Times New Roman"/>
              <a:cs typeface="Times New Roman"/>
            </a:endParaRPr>
          </a:p>
          <a:p>
            <a:pPr algn="ctr">
              <a:defRPr/>
            </a:pPr>
            <a:r>
              <a:rPr sz="1400">
                <a:latin typeface="Times New Roman"/>
                <a:ea typeface="Times New Roman"/>
                <a:cs typeface="Times New Roman"/>
              </a:rPr>
              <a:t>B, Num_Heads, Lt, Lv</a:t>
            </a:r>
            <a:endParaRPr sz="1400"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sz="1100">
                <a:latin typeface="Times New Roman"/>
                <a:cs typeface="Times New Roman"/>
              </a:rPr>
              <a:t>Lt (Lengh Textual terms)</a:t>
            </a:r>
            <a:br>
              <a:rPr sz="1100">
                <a:latin typeface="Times New Roman"/>
                <a:cs typeface="Times New Roman"/>
              </a:rPr>
            </a:br>
            <a:r>
              <a:rPr sz="1100">
                <a:latin typeface="Times New Roman"/>
                <a:cs typeface="Times New Roman"/>
              </a:rPr>
              <a:t>Lv (Lengh visual patches)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99831903" name=""/>
          <p:cNvSpPr txBox="1"/>
          <p:nvPr/>
        </p:nvSpPr>
        <p:spPr bwMode="auto">
          <a:xfrm rot="0" flipH="0" flipV="0">
            <a:off x="5643650" y="3907317"/>
            <a:ext cx="51824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Times New Roman"/>
                <a:cs typeface="Times New Roman"/>
              </a:rPr>
              <a:t>X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75217734" name=""/>
          <p:cNvSpPr txBox="1"/>
          <p:nvPr/>
        </p:nvSpPr>
        <p:spPr bwMode="auto">
          <a:xfrm rot="0" flipH="0" flipV="0">
            <a:off x="7656800" y="3480746"/>
            <a:ext cx="40832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Times New Roman"/>
                <a:cs typeface="Times New Roman"/>
              </a:rPr>
              <a:t>T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2026-02-19T00:05:06Z</dcterms:modified>
</cp:coreProperties>
</file>