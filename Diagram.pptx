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png" ContentType="image/png"/>
  <Default Extension="wmf" ContentType="image/x-wmf"/>
  <Override PartName="/ppt/theme/theme2.xml" ContentType="application/vnd.openxmlformats-officedocument.theme+xml"/>
  <Override PartName="/ppt/slideLayouts/slideLayout10.xml" ContentType="application/vnd.openxmlformats-officedocument.presentationml.slideLayout+xml"/>
  <Override PartName="/ppt/presentation.xml" ContentType="application/vnd.openxmlformats-officedocument.presentationml.presentation.main+xml"/>
  <Override PartName="/ppt/slideLayouts/slideLayout5.xml" ContentType="application/vnd.openxmlformats-officedocument.presentationml.slideLayout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7"/>
  </p:notesMasterIdLst>
  <p:sldIdLst>
    <p:sldId id="256" r:id="rId4"/>
    <p:sldId id="257" r:id="rId5"/>
    <p:sldId id="258" r:id="rId6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 /><Relationship Id="rId9" Type="http://schemas.openxmlformats.org/officeDocument/2006/relationships/tableStyles" Target="tableStyles.xml" /><Relationship Id="rId10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017783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69934933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710642646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983468985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17070830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45695173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228721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800607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913164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087016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160274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42666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FB40B8-C03E-A3D8-FACF-85666CF6122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833084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072713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164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6D43F4F-CC22-01F2-AB20-CFA9F204409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0622070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3172965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11964488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3262208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549153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81977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06159479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0249020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91190002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3088067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9647143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343108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61954627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13103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4650513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874354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57826317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09712406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6383346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8564708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80356531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5450269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5998610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32021885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18461726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1597467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03477150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718392733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01519563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972974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23274195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93047916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66298147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558345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622832443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6721203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6871562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65490591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13017909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06422236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7767592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4425281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6048243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3089155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126509860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59254793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9117706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6706505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255569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49202603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7508651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95234631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6825586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876083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48695324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9087327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65072855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2329880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1339934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5379130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14070188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493894341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75577628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8927905" name=""/>
          <p:cNvSpPr/>
          <p:nvPr/>
        </p:nvSpPr>
        <p:spPr bwMode="auto">
          <a:xfrm rot="0" flipH="0" flipV="0">
            <a:off x="2056338" y="587332"/>
            <a:ext cx="1651897" cy="1002980"/>
          </a:xfrm>
          <a:prstGeom prst="rect">
            <a:avLst/>
          </a:prstGeom>
          <a:gradFill>
            <a:gsLst>
              <a:gs pos="19000">
                <a:schemeClr val="accent1"/>
              </a:gs>
              <a:gs pos="100000">
                <a:srgbClr val="FFFFFF"/>
              </a:gs>
            </a:gsLst>
            <a:lin ang="0" scaled="1"/>
          </a:gradFill>
          <a:ln w="19049" cap="flat" cmpd="sng" algn="ctr">
            <a:solidFill>
              <a:schemeClr val="accent1"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b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DINOV3</a:t>
            </a:r>
            <a:endParaRPr b="0">
              <a:latin typeface="Times New Roman"/>
              <a:cs typeface="Times New Roman"/>
            </a:endParaRPr>
          </a:p>
        </p:txBody>
      </p:sp>
      <p:sp>
        <p:nvSpPr>
          <p:cNvPr id="405789796" name=""/>
          <p:cNvSpPr/>
          <p:nvPr/>
        </p:nvSpPr>
        <p:spPr bwMode="auto">
          <a:xfrm rot="0" flipH="0" flipV="0">
            <a:off x="2090133" y="5052248"/>
            <a:ext cx="1651897" cy="1022001"/>
          </a:xfrm>
          <a:prstGeom prst="rect">
            <a:avLst/>
          </a:prstGeom>
          <a:gradFill>
            <a:gsLst>
              <a:gs pos="19000">
                <a:schemeClr val="accent2">
                  <a:lumMod val="60000"/>
                  <a:lumOff val="40000"/>
                </a:schemeClr>
              </a:gs>
              <a:gs pos="100000">
                <a:srgbClr val="FFFFFF"/>
              </a:gs>
            </a:gsLst>
            <a:lin ang="0" scaled="1"/>
          </a:gradFill>
          <a:ln w="19049" cap="flat" cmpd="sng" algn="ctr">
            <a:solidFill>
              <a:schemeClr val="accent2">
                <a:lumMod val="60000"/>
                <a:lumOff val="40000"/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b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QWEN3 Embeddings</a:t>
            </a:r>
            <a:endParaRPr b="0">
              <a:latin typeface="Times New Roman"/>
              <a:cs typeface="Times New Roman"/>
            </a:endParaRPr>
          </a:p>
        </p:txBody>
      </p:sp>
      <p:sp>
        <p:nvSpPr>
          <p:cNvPr id="1245866572" name=""/>
          <p:cNvSpPr/>
          <p:nvPr/>
        </p:nvSpPr>
        <p:spPr bwMode="auto">
          <a:xfrm rot="0" flipH="0" flipV="0">
            <a:off x="2826257" y="2235788"/>
            <a:ext cx="179649" cy="668849"/>
          </a:xfrm>
          <a:prstGeom prst="cube">
            <a:avLst>
              <a:gd name="adj" fmla="val 25000"/>
            </a:avLst>
          </a:prstGeom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44852967" name=""/>
          <p:cNvSpPr txBox="1"/>
          <p:nvPr/>
        </p:nvSpPr>
        <p:spPr bwMode="auto">
          <a:xfrm rot="0" flipH="0" flipV="0">
            <a:off x="2301960" y="2904637"/>
            <a:ext cx="1279019" cy="7318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ea typeface="Times New Roman"/>
                <a:cs typeface="Times New Roman"/>
              </a:rPr>
              <a:t>Batch, 768</a:t>
            </a:r>
            <a:endParaRPr sz="1400">
              <a:latin typeface="Times New Roman"/>
              <a:ea typeface="Times New Roman"/>
              <a:cs typeface="Times New Roman"/>
            </a:endParaRPr>
          </a:p>
          <a:p>
            <a:pPr algn="ctr">
              <a:defRPr/>
            </a:pPr>
            <a:r>
              <a:rPr sz="1400">
                <a:latin typeface="Times New Roman"/>
                <a:ea typeface="Times New Roman"/>
                <a:cs typeface="Times New Roman"/>
              </a:rPr>
              <a:t>(CLS Token / global feat)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307828820" name=""/>
          <p:cNvSpPr/>
          <p:nvPr/>
        </p:nvSpPr>
        <p:spPr bwMode="auto">
          <a:xfrm rot="0" flipH="0" flipV="0">
            <a:off x="5808329" y="646749"/>
            <a:ext cx="1450413" cy="884145"/>
          </a:xfrm>
          <a:prstGeom prst="rect">
            <a:avLst/>
          </a:prstGeom>
          <a:solidFill>
            <a:srgbClr val="FF0000">
              <a:alpha val="44999"/>
            </a:srgbClr>
          </a:solidFill>
          <a:ln w="19049" cap="flat" cmpd="sng" algn="ctr">
            <a:solidFill>
              <a:schemeClr val="tx1"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sz="1400" b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UPSAMPLER</a:t>
            </a:r>
            <a:endParaRPr b="0">
              <a:latin typeface="Times New Roman"/>
              <a:cs typeface="Times New Roman"/>
            </a:endParaRPr>
          </a:p>
        </p:txBody>
      </p:sp>
      <p:sp>
        <p:nvSpPr>
          <p:cNvPr id="2135045341" name=""/>
          <p:cNvSpPr txBox="1"/>
          <p:nvPr/>
        </p:nvSpPr>
        <p:spPr bwMode="auto">
          <a:xfrm rot="0" flipH="0" flipV="0">
            <a:off x="7659883" y="1608816"/>
            <a:ext cx="1915628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ea typeface="Times New Roman"/>
                <a:cs typeface="Times New Roman"/>
              </a:rPr>
              <a:t>B, 768, </a:t>
            </a:r>
            <a:r>
              <a:rPr lang="en-US" sz="14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H, W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1165078815" name=""/>
          <p:cNvSpPr/>
          <p:nvPr/>
        </p:nvSpPr>
        <p:spPr bwMode="auto">
          <a:xfrm rot="0" flipH="0" flipV="0">
            <a:off x="122352" y="2322191"/>
            <a:ext cx="1684546" cy="2290630"/>
          </a:xfrm>
          <a:prstGeom prst="cube">
            <a:avLst>
              <a:gd name="adj" fmla="val 25000"/>
            </a:avLst>
          </a:prstGeom>
          <a:gradFill>
            <a:gsLst>
              <a:gs pos="0">
                <a:schemeClr val="accent1">
                  <a:alpha val="99999"/>
                </a:schemeClr>
              </a:gs>
              <a:gs pos="100000">
                <a:schemeClr val="accent2">
                  <a:lumMod val="60000"/>
                  <a:lumOff val="40000"/>
                  <a:alpha val="99999"/>
                </a:schemeClr>
              </a:gs>
            </a:gsLst>
            <a:lin ang="0" scaled="1"/>
          </a:gradFill>
          <a:ln w="12700" cap="flat" cmpd="sng" algn="ctr">
            <a:solidFill>
              <a:schemeClr val="accent1">
                <a:shade val="50000"/>
                <a:alpha val="84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sz="1600" b="1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Images</a:t>
            </a:r>
            <a:endParaRPr sz="1600" b="1">
              <a:solidFill>
                <a:schemeClr val="tx1"/>
              </a:solidFill>
              <a:latin typeface="Times New Roman"/>
              <a:ea typeface="Times New Roman"/>
              <a:cs typeface="Times New Roman"/>
            </a:endParaRPr>
          </a:p>
          <a:p>
            <a:pPr algn="ctr">
              <a:defRPr/>
            </a:pPr>
            <a:r>
              <a:rPr sz="1600" b="1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And </a:t>
            </a:r>
            <a:endParaRPr sz="1600" b="1">
              <a:solidFill>
                <a:schemeClr val="tx1"/>
              </a:solidFill>
              <a:latin typeface="Times New Roman"/>
              <a:ea typeface="Times New Roman"/>
              <a:cs typeface="Times New Roman"/>
            </a:endParaRPr>
          </a:p>
          <a:p>
            <a:pPr algn="ctr">
              <a:defRPr/>
            </a:pPr>
            <a:r>
              <a:rPr sz="1600" b="1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Captions</a:t>
            </a:r>
            <a:endParaRPr sz="1600" b="1">
              <a:solidFill>
                <a:schemeClr val="tx1"/>
              </a:solidFill>
              <a:latin typeface="Times New Roman"/>
              <a:ea typeface="Times New Roman"/>
              <a:cs typeface="Times New Roman"/>
            </a:endParaRPr>
          </a:p>
          <a:p>
            <a:pPr algn="ctr">
              <a:defRPr/>
            </a:pPr>
            <a:r>
              <a:rPr sz="1600" b="1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(Train/Val)</a:t>
            </a:r>
            <a:endParaRPr sz="1800" b="1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1456989990" name=""/>
          <p:cNvSpPr/>
          <p:nvPr/>
        </p:nvSpPr>
        <p:spPr bwMode="auto">
          <a:xfrm rot="0" flipH="0" flipV="0">
            <a:off x="4470364" y="5054505"/>
            <a:ext cx="1186737" cy="1017914"/>
          </a:xfrm>
          <a:prstGeom prst="cube">
            <a:avLst>
              <a:gd name="adj" fmla="val 25000"/>
            </a:avLst>
          </a:prstGeom>
          <a:solidFill>
            <a:schemeClr val="accent2">
              <a:lumMod val="60000"/>
              <a:lumOff val="40000"/>
            </a:schemeClr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505097996" name=""/>
          <p:cNvSpPr txBox="1"/>
          <p:nvPr/>
        </p:nvSpPr>
        <p:spPr bwMode="auto">
          <a:xfrm rot="0" flipH="0" flipV="0">
            <a:off x="3845800" y="6170234"/>
            <a:ext cx="2298284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ea typeface="Times New Roman"/>
                <a:cs typeface="Times New Roman"/>
              </a:rPr>
              <a:t>B, Num_texts,  4096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539769137" name=""/>
          <p:cNvSpPr/>
          <p:nvPr/>
        </p:nvSpPr>
        <p:spPr bwMode="auto">
          <a:xfrm rot="5400000" flipH="0" flipV="0">
            <a:off x="2695521" y="1822860"/>
            <a:ext cx="479657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423810575" name=""/>
          <p:cNvSpPr/>
          <p:nvPr/>
        </p:nvSpPr>
        <p:spPr bwMode="auto">
          <a:xfrm rot="0" flipH="0" flipV="0">
            <a:off x="8046020" y="509443"/>
            <a:ext cx="1185838" cy="1080868"/>
          </a:xfrm>
          <a:prstGeom prst="cube">
            <a:avLst>
              <a:gd name="adj" fmla="val 25000"/>
            </a:avLst>
          </a:prstGeom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309308935" name=""/>
          <p:cNvSpPr/>
          <p:nvPr/>
        </p:nvSpPr>
        <p:spPr bwMode="auto">
          <a:xfrm rot="0" flipH="0" flipV="0">
            <a:off x="3832084" y="981844"/>
            <a:ext cx="507088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674590273" name=""/>
          <p:cNvSpPr/>
          <p:nvPr/>
        </p:nvSpPr>
        <p:spPr bwMode="auto">
          <a:xfrm rot="0" flipH="0" flipV="0">
            <a:off x="7406340" y="981845"/>
            <a:ext cx="507087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761518599" name=""/>
          <p:cNvSpPr txBox="1"/>
          <p:nvPr/>
        </p:nvSpPr>
        <p:spPr bwMode="auto">
          <a:xfrm rot="0" flipH="0" flipV="0">
            <a:off x="5573741" y="1530894"/>
            <a:ext cx="1919589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ea typeface="Times New Roman"/>
                <a:cs typeface="Times New Roman"/>
              </a:rPr>
              <a:t>E.g. AnyUP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1612268020" name=""/>
          <p:cNvSpPr/>
          <p:nvPr/>
        </p:nvSpPr>
        <p:spPr bwMode="auto">
          <a:xfrm rot="0" flipH="0" flipV="0">
            <a:off x="9933913" y="571471"/>
            <a:ext cx="1450413" cy="884144"/>
          </a:xfrm>
          <a:prstGeom prst="rect">
            <a:avLst/>
          </a:prstGeom>
          <a:solidFill>
            <a:schemeClr val="accent6">
              <a:alpha val="66000"/>
            </a:schemeClr>
          </a:solidFill>
          <a:ln w="19049" cap="flat" cmpd="sng" algn="ctr">
            <a:solidFill>
              <a:schemeClr val="tx1"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sz="1400" b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AVG Pooling</a:t>
            </a:r>
            <a:endParaRPr b="0">
              <a:latin typeface="Times New Roman"/>
              <a:cs typeface="Times New Roman"/>
            </a:endParaRPr>
          </a:p>
        </p:txBody>
      </p:sp>
      <p:sp>
        <p:nvSpPr>
          <p:cNvPr id="759074485" name=""/>
          <p:cNvSpPr txBox="1"/>
          <p:nvPr/>
        </p:nvSpPr>
        <p:spPr bwMode="auto">
          <a:xfrm rot="0" flipH="0" flipV="0">
            <a:off x="9614687" y="3194293"/>
            <a:ext cx="1906628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ea typeface="Times New Roman"/>
                <a:cs typeface="Times New Roman"/>
              </a:rPr>
              <a:t>B, 768, 32, 32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531414463" name=""/>
          <p:cNvSpPr/>
          <p:nvPr/>
        </p:nvSpPr>
        <p:spPr bwMode="auto">
          <a:xfrm rot="0" flipH="0" flipV="0">
            <a:off x="9312555" y="958761"/>
            <a:ext cx="507087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285460547" name=""/>
          <p:cNvSpPr/>
          <p:nvPr/>
        </p:nvSpPr>
        <p:spPr bwMode="auto">
          <a:xfrm rot="0" flipH="0" flipV="0">
            <a:off x="10317821" y="2113427"/>
            <a:ext cx="682594" cy="1080867"/>
          </a:xfrm>
          <a:prstGeom prst="cube">
            <a:avLst>
              <a:gd name="adj" fmla="val 25000"/>
            </a:avLst>
          </a:prstGeom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88138076" name=""/>
          <p:cNvSpPr/>
          <p:nvPr/>
        </p:nvSpPr>
        <p:spPr bwMode="auto">
          <a:xfrm rot="5399976" flipH="0" flipV="0">
            <a:off x="10405576" y="1715762"/>
            <a:ext cx="507087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204475769" name=""/>
          <p:cNvSpPr/>
          <p:nvPr/>
        </p:nvSpPr>
        <p:spPr bwMode="auto">
          <a:xfrm rot="0" flipH="0" flipV="0">
            <a:off x="3859516" y="5472133"/>
            <a:ext cx="479656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715296239" name=""/>
          <p:cNvSpPr/>
          <p:nvPr/>
        </p:nvSpPr>
        <p:spPr bwMode="auto">
          <a:xfrm rot="0" flipH="0" flipV="0">
            <a:off x="7806445" y="5168043"/>
            <a:ext cx="2322902" cy="1307350"/>
          </a:xfrm>
          <a:prstGeom prst="rect">
            <a:avLst/>
          </a:prstGeom>
          <a:gradFill>
            <a:gsLst>
              <a:gs pos="19000">
                <a:schemeClr val="tx1">
                  <a:lumMod val="50000"/>
                  <a:lumOff val="50000"/>
                </a:schemeClr>
              </a:gs>
              <a:gs pos="100000">
                <a:srgbClr val="FFFFFF"/>
              </a:gs>
            </a:gsLst>
            <a:lin ang="0" scaled="1"/>
          </a:gradFill>
          <a:ln w="19049" cap="flat" cmpd="sng" algn="ctr">
            <a:solidFill>
              <a:schemeClr val="tx1">
                <a:lumMod val="65098"/>
                <a:lumOff val="34902"/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sz="2200" b="1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Aligner</a:t>
            </a:r>
            <a:endParaRPr sz="2200" b="1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algn="ctr"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(Latent Space Projection)</a:t>
            </a:r>
            <a:endParaRPr sz="2200" b="1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1131890942" name=""/>
          <p:cNvSpPr/>
          <p:nvPr/>
        </p:nvSpPr>
        <p:spPr bwMode="auto">
          <a:xfrm rot="0" flipH="0" flipV="0">
            <a:off x="4518415" y="738536"/>
            <a:ext cx="593368" cy="668848"/>
          </a:xfrm>
          <a:prstGeom prst="cube">
            <a:avLst>
              <a:gd name="adj" fmla="val 25000"/>
            </a:avLst>
          </a:prstGeom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495373068" name=""/>
          <p:cNvSpPr/>
          <p:nvPr/>
        </p:nvSpPr>
        <p:spPr bwMode="auto">
          <a:xfrm rot="0" flipH="0" flipV="0">
            <a:off x="5233206" y="997704"/>
            <a:ext cx="507087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985564579" name=""/>
          <p:cNvSpPr txBox="1"/>
          <p:nvPr/>
        </p:nvSpPr>
        <p:spPr bwMode="auto">
          <a:xfrm rot="0" flipH="0" flipV="0">
            <a:off x="4178288" y="1590311"/>
            <a:ext cx="1290538" cy="7318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lang="en-US" sz="14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Patch Grid 2D </a:t>
            </a:r>
            <a:endParaRPr lang="en-US" sz="1400" b="0" i="0" u="none" strike="noStrike" cap="none" spc="0">
              <a:solidFill>
                <a:schemeClr val="tx1"/>
              </a:solidFill>
              <a:latin typeface="Times New Roman"/>
              <a:ea typeface="Times New Roman"/>
              <a:cs typeface="Times New Roman"/>
            </a:endParaRPr>
          </a:p>
          <a:p>
            <a:pPr algn="ctr">
              <a:defRPr/>
            </a:pPr>
            <a:r>
              <a:rPr lang="en-US" sz="14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(B, C, H, W)</a:t>
            </a:r>
            <a:endParaRPr lang="en-US" sz="1400" b="0" i="0" u="none" strike="noStrike" cap="none" spc="0">
              <a:solidFill>
                <a:schemeClr val="tx1"/>
              </a:solidFill>
              <a:latin typeface="Times New Roman"/>
              <a:ea typeface="Times New Roman"/>
              <a:cs typeface="Times New Roman"/>
            </a:endParaRPr>
          </a:p>
          <a:p>
            <a:pPr algn="ctr">
              <a:defRPr/>
            </a:pPr>
            <a:r>
              <a:rPr lang="en-US" sz="14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(local feat)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63191556" name=""/>
          <p:cNvSpPr/>
          <p:nvPr/>
        </p:nvSpPr>
        <p:spPr bwMode="auto">
          <a:xfrm rot="10800000" flipH="0" flipV="0">
            <a:off x="9680369" y="2653860"/>
            <a:ext cx="507087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781877905" name=""/>
          <p:cNvSpPr/>
          <p:nvPr/>
        </p:nvSpPr>
        <p:spPr bwMode="auto">
          <a:xfrm rot="0" flipH="0" flipV="0">
            <a:off x="8225342" y="3636517"/>
            <a:ext cx="1520078" cy="803486"/>
          </a:xfrm>
          <a:prstGeom prst="cube">
            <a:avLst>
              <a:gd name="adj" fmla="val 25000"/>
            </a:avLst>
          </a:prstGeom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723626082" name=""/>
          <p:cNvSpPr txBox="1"/>
          <p:nvPr/>
        </p:nvSpPr>
        <p:spPr bwMode="auto">
          <a:xfrm rot="0" flipH="0" flipV="0">
            <a:off x="8029007" y="4460242"/>
            <a:ext cx="1912747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ea typeface="Times New Roman"/>
                <a:cs typeface="Times New Roman"/>
              </a:rPr>
              <a:t>B, 1024, 768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1180003956" name=""/>
          <p:cNvSpPr/>
          <p:nvPr/>
        </p:nvSpPr>
        <p:spPr bwMode="auto">
          <a:xfrm rot="0" flipH="0" flipV="0">
            <a:off x="8532155" y="2404617"/>
            <a:ext cx="1053713" cy="680718"/>
          </a:xfrm>
          <a:prstGeom prst="rect">
            <a:avLst/>
          </a:prstGeom>
          <a:solidFill>
            <a:schemeClr val="accent6">
              <a:alpha val="66000"/>
            </a:schemeClr>
          </a:solidFill>
          <a:ln w="19049" cap="flat" cmpd="sng" algn="ctr">
            <a:solidFill>
              <a:schemeClr val="tx1"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sz="1400" b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Reshape</a:t>
            </a:r>
            <a:endParaRPr b="0">
              <a:latin typeface="Times New Roman"/>
              <a:cs typeface="Times New Roman"/>
            </a:endParaRPr>
          </a:p>
        </p:txBody>
      </p:sp>
      <p:sp>
        <p:nvSpPr>
          <p:cNvPr id="1764940955" name=""/>
          <p:cNvSpPr/>
          <p:nvPr/>
        </p:nvSpPr>
        <p:spPr bwMode="auto">
          <a:xfrm rot="5400000" flipH="0" flipV="0">
            <a:off x="8872301" y="3280041"/>
            <a:ext cx="373420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850815193" name=""/>
          <p:cNvSpPr/>
          <p:nvPr/>
        </p:nvSpPr>
        <p:spPr bwMode="auto">
          <a:xfrm rot="5400000" flipH="0" flipV="0">
            <a:off x="8872301" y="4860996"/>
            <a:ext cx="373420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154480205" name=""/>
          <p:cNvSpPr/>
          <p:nvPr/>
        </p:nvSpPr>
        <p:spPr bwMode="auto">
          <a:xfrm rot="0" flipH="0" flipV="0">
            <a:off x="6051872" y="5472133"/>
            <a:ext cx="1564706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2046787193" name=""/>
          <p:cNvSpPr/>
          <p:nvPr/>
        </p:nvSpPr>
        <p:spPr bwMode="auto">
          <a:xfrm rot="12225393" flipH="0" flipV="0">
            <a:off x="7187484" y="3690888"/>
            <a:ext cx="858189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878937196" name=""/>
          <p:cNvSpPr/>
          <p:nvPr/>
        </p:nvSpPr>
        <p:spPr bwMode="auto">
          <a:xfrm rot="17960870" flipH="0" flipV="0">
            <a:off x="5136136" y="4483203"/>
            <a:ext cx="795606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725572349" name=""/>
          <p:cNvSpPr/>
          <p:nvPr/>
        </p:nvSpPr>
        <p:spPr bwMode="auto">
          <a:xfrm rot="0" flipH="0" flipV="0">
            <a:off x="5766556" y="2322191"/>
            <a:ext cx="1241985" cy="1501257"/>
          </a:xfrm>
          <a:prstGeom prst="can">
            <a:avLst>
              <a:gd name="adj" fmla="val 25000"/>
            </a:avLst>
          </a:prstGeom>
          <a:solidFill>
            <a:schemeClr val="bg2">
              <a:lumMod val="75000"/>
            </a:schemeClr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>
                <a:solidFill>
                  <a:schemeClr val="tx1"/>
                </a:solidFill>
              </a:rPr>
              <a:t>Tensor’s Disk</a:t>
            </a:r>
            <a:endParaRPr/>
          </a:p>
        </p:txBody>
      </p:sp>
      <p:sp>
        <p:nvSpPr>
          <p:cNvPr id="951245201" name=""/>
          <p:cNvSpPr txBox="1"/>
          <p:nvPr/>
        </p:nvSpPr>
        <p:spPr bwMode="auto">
          <a:xfrm rot="0" flipH="0" flipV="0">
            <a:off x="5418394" y="3782004"/>
            <a:ext cx="1938308" cy="5185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ea typeface="Times New Roman"/>
                <a:cs typeface="Times New Roman"/>
              </a:rPr>
              <a:t>Shards </a:t>
            </a:r>
            <a:endParaRPr sz="1400">
              <a:latin typeface="Times New Roman"/>
              <a:ea typeface="Times New Roman"/>
              <a:cs typeface="Times New Roman"/>
            </a:endParaRPr>
          </a:p>
          <a:p>
            <a:pPr algn="ctr">
              <a:defRPr/>
            </a:pPr>
            <a:r>
              <a:rPr sz="1400">
                <a:latin typeface="Times New Roman"/>
                <a:ea typeface="Times New Roman"/>
                <a:cs typeface="Times New Roman"/>
              </a:rPr>
              <a:t>(7,8Gb per shard)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185183380" name=""/>
          <p:cNvSpPr/>
          <p:nvPr/>
        </p:nvSpPr>
        <p:spPr bwMode="auto">
          <a:xfrm rot="17960870" flipH="0" flipV="0">
            <a:off x="1165456" y="1694529"/>
            <a:ext cx="1032126" cy="172504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474604916" name=""/>
          <p:cNvSpPr/>
          <p:nvPr/>
        </p:nvSpPr>
        <p:spPr bwMode="auto">
          <a:xfrm rot="3266976" flipH="0" flipV="0">
            <a:off x="997684" y="5065538"/>
            <a:ext cx="1112151" cy="172503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pic>
        <p:nvPicPr>
          <p:cNvPr id="1740304906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090133" y="608476"/>
            <a:ext cx="350284" cy="350284"/>
          </a:xfrm>
          <a:prstGeom prst="rect">
            <a:avLst/>
          </a:prstGeom>
        </p:spPr>
      </p:pic>
      <p:pic>
        <p:nvPicPr>
          <p:cNvPr id="84778755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126817" y="5054505"/>
            <a:ext cx="350284" cy="350284"/>
          </a:xfrm>
          <a:prstGeom prst="rect">
            <a:avLst/>
          </a:prstGeom>
        </p:spPr>
      </p:pic>
      <p:pic>
        <p:nvPicPr>
          <p:cNvPr id="475284836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7847511" y="5229647"/>
            <a:ext cx="362991" cy="36299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2124423" name=""/>
          <p:cNvSpPr/>
          <p:nvPr/>
        </p:nvSpPr>
        <p:spPr bwMode="auto">
          <a:xfrm rot="0" flipH="0" flipV="0">
            <a:off x="1825935" y="1251902"/>
            <a:ext cx="1604841" cy="990718"/>
          </a:xfrm>
          <a:prstGeom prst="rect">
            <a:avLst/>
          </a:prstGeom>
          <a:gradFill>
            <a:gsLst>
              <a:gs pos="19000">
                <a:schemeClr val="tx1">
                  <a:lumMod val="50000"/>
                  <a:lumOff val="50000"/>
                </a:schemeClr>
              </a:gs>
              <a:gs pos="100000">
                <a:srgbClr val="FFFFFF"/>
              </a:gs>
            </a:gsLst>
            <a:lin ang="0" scaled="1"/>
          </a:gradFill>
          <a:ln w="19049" cap="flat" cmpd="sng" algn="ctr">
            <a:solidFill>
              <a:schemeClr val="tx1">
                <a:lumMod val="65098"/>
                <a:lumOff val="34902"/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Affine linear transformation</a:t>
            </a:r>
            <a:endParaRPr sz="2200" b="1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1042848463" name=""/>
          <p:cNvSpPr/>
          <p:nvPr/>
        </p:nvSpPr>
        <p:spPr bwMode="auto">
          <a:xfrm rot="0" flipH="0" flipV="0">
            <a:off x="351870" y="979648"/>
            <a:ext cx="624199" cy="544507"/>
          </a:xfrm>
          <a:prstGeom prst="cube">
            <a:avLst>
              <a:gd name="adj" fmla="val 25000"/>
            </a:avLst>
          </a:prstGeom>
          <a:solidFill>
            <a:schemeClr val="accent2">
              <a:lumMod val="60000"/>
              <a:lumOff val="40000"/>
            </a:schemeClr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492812789" name=""/>
          <p:cNvSpPr/>
          <p:nvPr/>
        </p:nvSpPr>
        <p:spPr bwMode="auto">
          <a:xfrm rot="0" flipH="0" flipV="0">
            <a:off x="309847" y="1807083"/>
            <a:ext cx="728381" cy="480782"/>
          </a:xfrm>
          <a:prstGeom prst="cube">
            <a:avLst>
              <a:gd name="adj" fmla="val 25000"/>
            </a:avLst>
          </a:prstGeom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550676239" name=""/>
          <p:cNvSpPr/>
          <p:nvPr/>
        </p:nvSpPr>
        <p:spPr bwMode="auto">
          <a:xfrm rot="0" flipH="0" flipV="0">
            <a:off x="267826" y="812426"/>
            <a:ext cx="812426" cy="1624852"/>
          </a:xfrm>
          <a:prstGeom prst="flowChartAlternateProcess">
            <a:avLst/>
          </a:prstGeom>
          <a:noFill/>
          <a:ln w="1904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60776124" name=""/>
          <p:cNvSpPr txBox="1"/>
          <p:nvPr/>
        </p:nvSpPr>
        <p:spPr bwMode="auto">
          <a:xfrm rot="0" flipH="0" flipV="0">
            <a:off x="28960" y="2525924"/>
            <a:ext cx="1295219" cy="7318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cs typeface="Times New Roman"/>
              </a:rPr>
              <a:t>Embeddings</a:t>
            </a:r>
            <a:endParaRPr sz="1400">
              <a:latin typeface="Times New Roman"/>
              <a:cs typeface="Times New Roman"/>
            </a:endParaRPr>
          </a:p>
          <a:p>
            <a:pPr algn="ctr">
              <a:defRPr/>
            </a:pPr>
            <a:r>
              <a:rPr sz="1400">
                <a:latin typeface="Times New Roman"/>
                <a:cs typeface="Times New Roman"/>
              </a:rPr>
              <a:t>with mismatch shapes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24555322" name=""/>
          <p:cNvSpPr/>
          <p:nvPr/>
        </p:nvSpPr>
        <p:spPr bwMode="auto">
          <a:xfrm rot="0" flipH="0" flipV="0">
            <a:off x="4289461" y="979648"/>
            <a:ext cx="624198" cy="544506"/>
          </a:xfrm>
          <a:prstGeom prst="cube">
            <a:avLst>
              <a:gd name="adj" fmla="val 25000"/>
            </a:avLst>
          </a:prstGeom>
          <a:solidFill>
            <a:schemeClr val="accent2">
              <a:lumMod val="60000"/>
              <a:lumOff val="40000"/>
            </a:schemeClr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370585334" name=""/>
          <p:cNvSpPr/>
          <p:nvPr/>
        </p:nvSpPr>
        <p:spPr bwMode="auto">
          <a:xfrm rot="0" flipH="0" flipV="0">
            <a:off x="4205418" y="812426"/>
            <a:ext cx="812425" cy="1624851"/>
          </a:xfrm>
          <a:prstGeom prst="flowChartAlternateProcess">
            <a:avLst/>
          </a:prstGeom>
          <a:noFill/>
          <a:ln w="1904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84156708" name=""/>
          <p:cNvSpPr txBox="1"/>
          <p:nvPr/>
        </p:nvSpPr>
        <p:spPr bwMode="auto">
          <a:xfrm rot="0" flipH="0" flipV="0">
            <a:off x="3966552" y="2525924"/>
            <a:ext cx="1284778" cy="7318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lang="en-US" sz="14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Embeddings</a:t>
            </a:r>
            <a:endParaRPr sz="1400">
              <a:latin typeface="Times New Roman"/>
              <a:cs typeface="Times New Roman"/>
            </a:endParaRPr>
          </a:p>
          <a:p>
            <a:pPr algn="ctr">
              <a:defRPr/>
            </a:pPr>
            <a:r>
              <a:rPr lang="en-US" sz="14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with match shapes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179831988" name=""/>
          <p:cNvSpPr/>
          <p:nvPr/>
        </p:nvSpPr>
        <p:spPr bwMode="auto">
          <a:xfrm rot="0" flipH="0" flipV="0">
            <a:off x="4289461" y="1747261"/>
            <a:ext cx="624198" cy="544506"/>
          </a:xfrm>
          <a:prstGeom prst="cube">
            <a:avLst>
              <a:gd name="adj" fmla="val 25000"/>
            </a:avLst>
          </a:prstGeom>
          <a:solidFill>
            <a:schemeClr val="accent1"/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957306498" name=""/>
          <p:cNvSpPr/>
          <p:nvPr/>
        </p:nvSpPr>
        <p:spPr bwMode="auto">
          <a:xfrm rot="0" flipH="0" flipV="0">
            <a:off x="1196249" y="1624852"/>
            <a:ext cx="479656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350166079" name=""/>
          <p:cNvSpPr/>
          <p:nvPr/>
        </p:nvSpPr>
        <p:spPr bwMode="auto">
          <a:xfrm rot="0" flipH="0" flipV="0">
            <a:off x="3571126" y="1624852"/>
            <a:ext cx="479656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702350784" name=""/>
          <p:cNvSpPr/>
          <p:nvPr/>
        </p:nvSpPr>
        <p:spPr bwMode="auto">
          <a:xfrm rot="0" flipH="0" flipV="0">
            <a:off x="6095999" y="922917"/>
            <a:ext cx="1412400" cy="1603007"/>
          </a:xfrm>
          <a:prstGeom prst="rect">
            <a:avLst/>
          </a:prstGeom>
          <a:gradFill>
            <a:gsLst>
              <a:gs pos="19000">
                <a:schemeClr val="tx1">
                  <a:lumMod val="50000"/>
                  <a:lumOff val="50000"/>
                </a:schemeClr>
              </a:gs>
              <a:gs pos="100000">
                <a:srgbClr val="FFFFFF"/>
              </a:gs>
            </a:gsLst>
            <a:lin ang="0" scaled="1"/>
          </a:gradFill>
          <a:ln w="19049" cap="flat" cmpd="sng" algn="ctr">
            <a:solidFill>
              <a:schemeClr val="tx1">
                <a:lumMod val="65098"/>
                <a:lumOff val="34902"/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LoRA</a:t>
            </a:r>
            <a:endParaRPr sz="3600" b="1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2025146942" name=""/>
          <p:cNvSpPr/>
          <p:nvPr/>
        </p:nvSpPr>
        <p:spPr bwMode="auto">
          <a:xfrm rot="0" flipH="0" flipV="0">
            <a:off x="5367055" y="1595019"/>
            <a:ext cx="479656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867906706" name=""/>
          <p:cNvSpPr txBox="1"/>
          <p:nvPr/>
        </p:nvSpPr>
        <p:spPr bwMode="auto">
          <a:xfrm rot="0" flipH="0" flipV="0">
            <a:off x="7620953" y="931761"/>
            <a:ext cx="4349412" cy="15853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sz="1400">
                <a:latin typeface="Times New Roman"/>
                <a:cs typeface="Times New Roman"/>
              </a:rPr>
              <a:t>Base = </a:t>
            </a:r>
            <a:r>
              <a:rPr sz="1400">
                <a:latin typeface="Times New Roman"/>
                <a:cs typeface="Times New Roman"/>
              </a:rPr>
              <a:t> [B, 1024, 4096]</a:t>
            </a:r>
            <a:r>
              <a:rPr sz="1400">
                <a:latin typeface="Times New Roman"/>
                <a:cs typeface="Times New Roman"/>
              </a:rPr>
              <a:t> after linear layer (1024 patches)</a:t>
            </a:r>
            <a:endParaRPr sz="1400">
              <a:latin typeface="Times New Roman"/>
              <a:cs typeface="Times New Roman"/>
            </a:endParaRPr>
          </a:p>
          <a:p>
            <a:pPr algn="l">
              <a:defRPr/>
            </a:pPr>
            <a:r>
              <a:rPr sz="1400">
                <a:latin typeface="Times New Roman"/>
                <a:cs typeface="Times New Roman"/>
              </a:rPr>
              <a:t>Rank = 64</a:t>
            </a:r>
            <a:endParaRPr sz="1400">
              <a:latin typeface="Times New Roman"/>
              <a:cs typeface="Times New Roman"/>
            </a:endParaRPr>
          </a:p>
          <a:p>
            <a:pPr algn="l">
              <a:defRPr/>
            </a:pPr>
            <a:r>
              <a:rPr sz="1400">
                <a:latin typeface="Times New Roman"/>
                <a:cs typeface="Times New Roman"/>
              </a:rPr>
              <a:t>Matrix A = [768, </a:t>
            </a:r>
            <a:r>
              <a:rPr lang="en-US" sz="14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64</a:t>
            </a:r>
            <a:r>
              <a:rPr sz="1400">
                <a:latin typeface="Times New Roman"/>
                <a:cs typeface="Times New Roman"/>
              </a:rPr>
              <a:t>] </a:t>
            </a:r>
            <a:endParaRPr sz="1400">
              <a:latin typeface="Times New Roman"/>
              <a:cs typeface="Times New Roman"/>
            </a:endParaRPr>
          </a:p>
          <a:p>
            <a:pPr algn="l">
              <a:defRPr/>
            </a:pPr>
            <a:r>
              <a:rPr sz="1400">
                <a:latin typeface="Times New Roman"/>
                <a:cs typeface="Times New Roman"/>
              </a:rPr>
              <a:t>Operation 1 : </a:t>
            </a:r>
            <a:r>
              <a:rPr sz="1400">
                <a:latin typeface="Times New Roman"/>
                <a:cs typeface="Times New Roman"/>
              </a:rPr>
              <a:t> </a:t>
            </a:r>
            <a:r>
              <a:rPr lang="en-US" sz="12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[B, 1024, 768] X A [768, 64] → [B, 1024, </a:t>
            </a:r>
            <a:r>
              <a:rPr lang="en-US" sz="12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64</a:t>
            </a:r>
            <a:r>
              <a:rPr lang="en-US" sz="12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]</a:t>
            </a:r>
            <a:endParaRPr sz="1400">
              <a:latin typeface="Times New Roman"/>
              <a:cs typeface="Times New Roman"/>
            </a:endParaRPr>
          </a:p>
          <a:p>
            <a:pPr algn="l">
              <a:defRPr/>
            </a:pPr>
            <a:r>
              <a:rPr lang="en-US" sz="14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Matrix B = [</a:t>
            </a:r>
            <a:r>
              <a:rPr lang="en-US" sz="14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64</a:t>
            </a:r>
            <a:r>
              <a:rPr lang="en-US" sz="14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, 4096]</a:t>
            </a:r>
            <a:endParaRPr sz="1400">
              <a:latin typeface="Times New Roman"/>
              <a:cs typeface="Times New Roman"/>
            </a:endParaRPr>
          </a:p>
          <a:p>
            <a:pPr algn="l">
              <a:defRPr/>
            </a:pPr>
            <a:r>
              <a:rPr sz="1400">
                <a:latin typeface="Times New Roman"/>
                <a:cs typeface="Times New Roman"/>
              </a:rPr>
              <a:t>Operation 2 : </a:t>
            </a:r>
            <a:r>
              <a:rPr lang="en-US" sz="14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Operation 1 X Matrix B = [B, 1024, 4096]</a:t>
            </a:r>
            <a:endParaRPr lang="en-US" sz="1400" b="0" i="0" u="none" strike="noStrike" cap="none" spc="0">
              <a:solidFill>
                <a:schemeClr val="tx1"/>
              </a:solidFill>
              <a:latin typeface="Times New Roman"/>
              <a:ea typeface="Times New Roman"/>
              <a:cs typeface="Times New Roman"/>
            </a:endParaRPr>
          </a:p>
          <a:p>
            <a:pPr algn="l">
              <a:defRPr/>
            </a:pPr>
            <a:r>
              <a:rPr sz="1400">
                <a:latin typeface="Times New Roman"/>
                <a:cs typeface="Times New Roman"/>
              </a:rPr>
              <a:t>Residual operation = Base + (Operation 2 *  (32 / </a:t>
            </a:r>
            <a:r>
              <a:rPr lang="en-US" sz="14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64</a:t>
            </a:r>
            <a:r>
              <a:rPr sz="1400">
                <a:latin typeface="Times New Roman"/>
                <a:cs typeface="Times New Roman"/>
              </a:rPr>
              <a:t>))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867522566" name=""/>
          <p:cNvSpPr/>
          <p:nvPr/>
        </p:nvSpPr>
        <p:spPr bwMode="auto">
          <a:xfrm rot="5399976" flipH="0" flipV="0">
            <a:off x="6447335" y="2885282"/>
            <a:ext cx="709728" cy="24323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557041859" name=""/>
          <p:cNvSpPr/>
          <p:nvPr/>
        </p:nvSpPr>
        <p:spPr bwMode="auto">
          <a:xfrm rot="0" flipH="0" flipV="0">
            <a:off x="4111240" y="3580110"/>
            <a:ext cx="1604840" cy="990718"/>
          </a:xfrm>
          <a:prstGeom prst="rect">
            <a:avLst/>
          </a:prstGeom>
          <a:gradFill>
            <a:gsLst>
              <a:gs pos="0">
                <a:schemeClr val="tx1">
                  <a:lumMod val="50000"/>
                  <a:lumOff val="50000"/>
                </a:schemeClr>
              </a:gs>
              <a:gs pos="100000">
                <a:schemeClr val="accent6"/>
              </a:gs>
            </a:gsLst>
            <a:lin ang="0" scaled="1"/>
          </a:gradFill>
          <a:ln w="19049" cap="flat" cmpd="sng" algn="ctr">
            <a:solidFill>
              <a:schemeClr val="tx1">
                <a:lumMod val="65098"/>
                <a:lumOff val="34902"/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Query</a:t>
            </a:r>
            <a:endParaRPr sz="2200" b="1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722157019" name=""/>
          <p:cNvSpPr/>
          <p:nvPr/>
        </p:nvSpPr>
        <p:spPr bwMode="auto">
          <a:xfrm rot="0" flipH="0" flipV="0">
            <a:off x="6121397" y="3580110"/>
            <a:ext cx="1604840" cy="990718"/>
          </a:xfrm>
          <a:prstGeom prst="rect">
            <a:avLst/>
          </a:prstGeom>
          <a:gradFill>
            <a:gsLst>
              <a:gs pos="0">
                <a:schemeClr val="tx1">
                  <a:lumMod val="50000"/>
                  <a:lumOff val="50000"/>
                  <a:alpha val="81000"/>
                </a:schemeClr>
              </a:gs>
              <a:gs pos="100000">
                <a:srgbClr val="FF0000">
                  <a:alpha val="81000"/>
                </a:srgbClr>
              </a:gs>
            </a:gsLst>
            <a:lin ang="0" scaled="1"/>
          </a:gradFill>
          <a:ln w="19049" cap="flat" cmpd="sng" algn="ctr">
            <a:solidFill>
              <a:schemeClr val="tx1">
                <a:lumMod val="65098"/>
                <a:lumOff val="34902"/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Key</a:t>
            </a:r>
            <a:endParaRPr sz="2200" b="1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1914535106" name=""/>
          <p:cNvSpPr/>
          <p:nvPr/>
        </p:nvSpPr>
        <p:spPr bwMode="auto">
          <a:xfrm rot="0" flipH="0" flipV="0">
            <a:off x="8181640" y="3580110"/>
            <a:ext cx="1604840" cy="990718"/>
          </a:xfrm>
          <a:prstGeom prst="rect">
            <a:avLst/>
          </a:prstGeom>
          <a:gradFill>
            <a:gsLst>
              <a:gs pos="0">
                <a:schemeClr val="tx1">
                  <a:lumMod val="50000"/>
                  <a:lumOff val="50000"/>
                </a:schemeClr>
              </a:gs>
              <a:gs pos="100000">
                <a:schemeClr val="accent1"/>
              </a:gs>
            </a:gsLst>
            <a:lin ang="0" scaled="1"/>
          </a:gradFill>
          <a:ln w="19049" cap="flat" cmpd="sng" algn="ctr">
            <a:solidFill>
              <a:schemeClr val="tx1">
                <a:lumMod val="65098"/>
                <a:lumOff val="34902"/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Value</a:t>
            </a:r>
            <a:endParaRPr sz="2200" b="1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1080498760" name=""/>
          <p:cNvSpPr txBox="1"/>
          <p:nvPr/>
        </p:nvSpPr>
        <p:spPr bwMode="auto">
          <a:xfrm rot="0" flipH="0" flipV="0">
            <a:off x="4269291" y="4631583"/>
            <a:ext cx="1296296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cs typeface="Times New Roman"/>
              </a:rPr>
              <a:t>Text_queries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1626860272" name=""/>
          <p:cNvSpPr txBox="1"/>
          <p:nvPr/>
        </p:nvSpPr>
        <p:spPr bwMode="auto">
          <a:xfrm rot="0" flipH="0" flipV="0">
            <a:off x="6324297" y="4631582"/>
            <a:ext cx="1302775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cs typeface="Times New Roman"/>
              </a:rPr>
              <a:t>Visual features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1383805978" name=""/>
          <p:cNvSpPr txBox="1"/>
          <p:nvPr/>
        </p:nvSpPr>
        <p:spPr bwMode="auto">
          <a:xfrm rot="0" flipH="0" flipV="0">
            <a:off x="8381696" y="4631582"/>
            <a:ext cx="1303134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cs typeface="Times New Roman"/>
              </a:rPr>
              <a:t>Visual features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807895721" name=""/>
          <p:cNvSpPr/>
          <p:nvPr/>
        </p:nvSpPr>
        <p:spPr bwMode="auto">
          <a:xfrm rot="0" flipH="0" flipV="0">
            <a:off x="3810954" y="3429000"/>
            <a:ext cx="6175582" cy="1566955"/>
          </a:xfrm>
          <a:prstGeom prst="flowChartAlternateProcess">
            <a:avLst/>
          </a:prstGeom>
          <a:noFill/>
          <a:ln w="1904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19660637" name=""/>
          <p:cNvSpPr txBox="1"/>
          <p:nvPr/>
        </p:nvSpPr>
        <p:spPr bwMode="auto">
          <a:xfrm rot="0" flipH="0" flipV="0">
            <a:off x="1984167" y="3996583"/>
            <a:ext cx="1781559" cy="5185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cs typeface="Times New Roman"/>
              </a:rPr>
              <a:t>Cross Attention</a:t>
            </a:r>
            <a:endParaRPr sz="1400">
              <a:latin typeface="Times New Roman"/>
              <a:cs typeface="Times New Roman"/>
            </a:endParaRPr>
          </a:p>
          <a:p>
            <a:pPr algn="ctr">
              <a:defRPr/>
            </a:pPr>
            <a:r>
              <a:rPr sz="1400">
                <a:latin typeface="Times New Roman"/>
                <a:cs typeface="Times New Roman"/>
              </a:rPr>
              <a:t>(Multi-head attention)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877143986" name=""/>
          <p:cNvSpPr/>
          <p:nvPr/>
        </p:nvSpPr>
        <p:spPr bwMode="auto">
          <a:xfrm rot="5399976" flipH="0" flipV="0">
            <a:off x="6588903" y="5155967"/>
            <a:ext cx="426593" cy="243234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758104486" name=""/>
          <p:cNvSpPr/>
          <p:nvPr/>
        </p:nvSpPr>
        <p:spPr bwMode="auto">
          <a:xfrm rot="0" flipH="0" flipV="0">
            <a:off x="6198472" y="5518999"/>
            <a:ext cx="1207455" cy="522838"/>
          </a:xfrm>
          <a:prstGeom prst="rect">
            <a:avLst/>
          </a:prstGeom>
          <a:gradFill>
            <a:gsLst>
              <a:gs pos="19000">
                <a:schemeClr val="tx1">
                  <a:lumMod val="50000"/>
                  <a:lumOff val="50000"/>
                </a:schemeClr>
              </a:gs>
              <a:gs pos="100000">
                <a:srgbClr val="FFFFFF"/>
              </a:gs>
            </a:gsLst>
            <a:lin ang="0" scaled="1"/>
          </a:gradFill>
          <a:ln w="19049" cap="flat" cmpd="sng" algn="ctr">
            <a:solidFill>
              <a:schemeClr val="tx1">
                <a:lumMod val="65098"/>
                <a:lumOff val="34902"/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Softmax</a:t>
            </a:r>
            <a:endParaRPr sz="2200" b="1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1069439750" name=""/>
          <p:cNvSpPr txBox="1"/>
          <p:nvPr/>
        </p:nvSpPr>
        <p:spPr bwMode="auto">
          <a:xfrm rot="0" flipH="0" flipV="0">
            <a:off x="7688885" y="6174852"/>
            <a:ext cx="1735429" cy="5185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sz="1400" b="1">
                <a:latin typeface="Times New Roman"/>
                <a:ea typeface="Times New Roman"/>
                <a:cs typeface="Times New Roman"/>
              </a:rPr>
              <a:t>Aligned Embedding</a:t>
            </a:r>
            <a:endParaRPr sz="1400" b="1">
              <a:latin typeface="Times New Roman"/>
              <a:ea typeface="Times New Roman"/>
              <a:cs typeface="Times New Roman"/>
            </a:endParaRPr>
          </a:p>
          <a:p>
            <a:pPr algn="l">
              <a:defRPr/>
            </a:pPr>
            <a:r>
              <a:rPr sz="1400">
                <a:latin typeface="Times New Roman"/>
                <a:ea typeface="Times New Roman"/>
                <a:cs typeface="Times New Roman"/>
              </a:rPr>
              <a:t>B, Num_Terms, 4096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2020776614" name=""/>
          <p:cNvSpPr/>
          <p:nvPr/>
        </p:nvSpPr>
        <p:spPr bwMode="auto">
          <a:xfrm rot="0" flipH="0" flipV="0">
            <a:off x="7620955" y="5689302"/>
            <a:ext cx="479656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355545901" name=""/>
          <p:cNvSpPr/>
          <p:nvPr/>
        </p:nvSpPr>
        <p:spPr bwMode="auto">
          <a:xfrm rot="0" flipH="0" flipV="0">
            <a:off x="8301288" y="5203752"/>
            <a:ext cx="510263" cy="971100"/>
          </a:xfrm>
          <a:prstGeom prst="cube">
            <a:avLst>
              <a:gd name="adj" fmla="val 25000"/>
            </a:avLst>
          </a:prstGeom>
          <a:solidFill>
            <a:srgbClr val="CF73E6"/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219054039" name=""/>
          <p:cNvSpPr/>
          <p:nvPr/>
        </p:nvSpPr>
        <p:spPr bwMode="auto">
          <a:xfrm rot="10799989" flipH="0" flipV="0">
            <a:off x="5476253" y="5659469"/>
            <a:ext cx="479656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783972345" name=""/>
          <p:cNvSpPr/>
          <p:nvPr/>
        </p:nvSpPr>
        <p:spPr bwMode="auto">
          <a:xfrm rot="0" flipH="0" flipV="0">
            <a:off x="5251330" y="5203752"/>
            <a:ext cx="115724" cy="971100"/>
          </a:xfrm>
          <a:prstGeom prst="cube">
            <a:avLst>
              <a:gd name="adj" fmla="val 25000"/>
            </a:avLst>
          </a:prstGeom>
          <a:solidFill>
            <a:srgbClr val="CF73E6"/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721973329" name=""/>
          <p:cNvSpPr txBox="1"/>
          <p:nvPr/>
        </p:nvSpPr>
        <p:spPr bwMode="auto">
          <a:xfrm rot="0" flipH="0" flipV="0">
            <a:off x="3054557" y="5490881"/>
            <a:ext cx="2138426" cy="102143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lang="en-US" sz="1400" b="1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Likelihood</a:t>
            </a:r>
            <a:endParaRPr sz="1400" b="1">
              <a:latin typeface="Times New Roman"/>
              <a:ea typeface="Times New Roman"/>
              <a:cs typeface="Times New Roman"/>
            </a:endParaRPr>
          </a:p>
          <a:p>
            <a:pPr algn="ctr">
              <a:defRPr/>
            </a:pPr>
            <a:r>
              <a:rPr sz="1400">
                <a:latin typeface="Times New Roman"/>
                <a:ea typeface="Times New Roman"/>
                <a:cs typeface="Times New Roman"/>
              </a:rPr>
              <a:t>B, Num_Heads, Lt, Lv</a:t>
            </a:r>
            <a:endParaRPr sz="1400">
              <a:latin typeface="Times New Roman"/>
              <a:cs typeface="Times New Roman"/>
            </a:endParaRPr>
          </a:p>
          <a:p>
            <a:pPr algn="ctr">
              <a:defRPr/>
            </a:pPr>
            <a:r>
              <a:rPr sz="1100">
                <a:latin typeface="Times New Roman"/>
                <a:cs typeface="Times New Roman"/>
              </a:rPr>
              <a:t>Lt (Lengh Textual terms)</a:t>
            </a:r>
            <a:br>
              <a:rPr sz="1100">
                <a:latin typeface="Times New Roman"/>
                <a:cs typeface="Times New Roman"/>
              </a:rPr>
            </a:br>
            <a:r>
              <a:rPr sz="1100">
                <a:latin typeface="Times New Roman"/>
                <a:cs typeface="Times New Roman"/>
              </a:rPr>
              <a:t>Lv (Lengh visual patches)</a:t>
            </a:r>
            <a:endParaRPr sz="1100">
              <a:latin typeface="Times New Roman"/>
              <a:cs typeface="Times New Roman"/>
            </a:endParaRPr>
          </a:p>
          <a:p>
            <a:pPr algn="ctr">
              <a:defRPr/>
            </a:pPr>
            <a:r>
              <a:rPr sz="1100">
                <a:latin typeface="Times New Roman"/>
                <a:cs typeface="Times New Roman"/>
              </a:rPr>
              <a:t>Num_Heads = 8 (standart)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896501043" name=""/>
          <p:cNvSpPr txBox="1"/>
          <p:nvPr/>
        </p:nvSpPr>
        <p:spPr bwMode="auto">
          <a:xfrm rot="0" flipH="0" flipV="0">
            <a:off x="5643650" y="3907317"/>
            <a:ext cx="518245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cs typeface="Times New Roman"/>
              </a:rPr>
              <a:t>X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211128397" name=""/>
          <p:cNvSpPr txBox="1"/>
          <p:nvPr/>
        </p:nvSpPr>
        <p:spPr bwMode="auto">
          <a:xfrm rot="0" flipH="0" flipV="0">
            <a:off x="7656800" y="3480746"/>
            <a:ext cx="408327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cs typeface="Times New Roman"/>
              </a:rPr>
              <a:t>T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54281917" name=""/>
          <p:cNvSpPr txBox="1"/>
          <p:nvPr/>
        </p:nvSpPr>
        <p:spPr bwMode="auto">
          <a:xfrm rot="0" flipH="0" flipV="0">
            <a:off x="10220734" y="3221485"/>
            <a:ext cx="1239675" cy="457559"/>
          </a:xfrm>
          <a:prstGeom prst="rect">
            <a:avLst/>
          </a:prstGeom>
          <a:noFill/>
          <a:ln w="28575">
            <a:solidFill>
              <a:srgbClr val="92D050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>
                <a:latin typeface="Times New Roman"/>
                <a:cs typeface="Times New Roman"/>
              </a:rPr>
              <a:t>Text_queries</a:t>
            </a:r>
            <a:endParaRPr sz="1200">
              <a:latin typeface="Times New Roman"/>
              <a:cs typeface="Times New Roman"/>
            </a:endParaRPr>
          </a:p>
          <a:p>
            <a:pPr algn="ctr">
              <a:defRPr/>
            </a:pPr>
            <a:r>
              <a:rPr lang="en-US" sz="12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[B, 1, 4096]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1692309044" name=""/>
          <p:cNvSpPr txBox="1"/>
          <p:nvPr/>
        </p:nvSpPr>
        <p:spPr bwMode="auto">
          <a:xfrm rot="0" flipH="0" flipV="0">
            <a:off x="10220734" y="3907316"/>
            <a:ext cx="1239675" cy="457559"/>
          </a:xfrm>
          <a:prstGeom prst="rect">
            <a:avLst/>
          </a:prstGeom>
          <a:noFill/>
          <a:ln w="28575">
            <a:solidFill>
              <a:srgbClr val="FF0000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lang="en-US" sz="12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Visual features</a:t>
            </a:r>
            <a:endParaRPr sz="1200">
              <a:latin typeface="Times New Roman"/>
              <a:cs typeface="Times New Roman"/>
            </a:endParaRPr>
          </a:p>
          <a:p>
            <a:pPr algn="ctr">
              <a:defRPr/>
            </a:pPr>
            <a:r>
              <a:rPr lang="en-US" sz="12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[B, 1024, 4096]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73897901" name=""/>
          <p:cNvSpPr txBox="1"/>
          <p:nvPr/>
        </p:nvSpPr>
        <p:spPr bwMode="auto">
          <a:xfrm rot="0" flipH="0" flipV="0">
            <a:off x="10220734" y="4631582"/>
            <a:ext cx="1241115" cy="457559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lang="en-US" sz="12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Visual features</a:t>
            </a:r>
            <a:endParaRPr sz="1200">
              <a:latin typeface="Times New Roman"/>
              <a:cs typeface="Times New Roman"/>
            </a:endParaRPr>
          </a:p>
          <a:p>
            <a:pPr algn="ctr">
              <a:defRPr/>
            </a:pPr>
            <a:r>
              <a:rPr lang="en-US" sz="12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[B, 1024, 4096]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6802711" name=""/>
          <p:cNvSpPr/>
          <p:nvPr/>
        </p:nvSpPr>
        <p:spPr bwMode="auto">
          <a:xfrm rot="0" flipH="0" flipV="0">
            <a:off x="4940234" y="133260"/>
            <a:ext cx="1856973" cy="1185953"/>
          </a:xfrm>
          <a:prstGeom prst="rect">
            <a:avLst/>
          </a:prstGeom>
          <a:gradFill>
            <a:gsLst>
              <a:gs pos="19000">
                <a:schemeClr val="tx1">
                  <a:lumMod val="50000"/>
                  <a:lumOff val="50000"/>
                </a:schemeClr>
              </a:gs>
              <a:gs pos="100000">
                <a:srgbClr val="FFFFFF"/>
              </a:gs>
            </a:gsLst>
            <a:lin ang="0" scaled="1"/>
          </a:gradFill>
          <a:ln w="19049" cap="flat" cmpd="sng" algn="ctr">
            <a:solidFill>
              <a:schemeClr val="tx1">
                <a:lumMod val="65098"/>
                <a:lumOff val="34902"/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sz="2200" b="1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Aligner	 </a:t>
            </a:r>
            <a:endParaRPr sz="2200" b="1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pic>
        <p:nvPicPr>
          <p:cNvPr id="396675782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5005602" y="198508"/>
            <a:ext cx="350284" cy="350284"/>
          </a:xfrm>
          <a:prstGeom prst="rect">
            <a:avLst/>
          </a:prstGeom>
        </p:spPr>
      </p:pic>
      <p:sp>
        <p:nvSpPr>
          <p:cNvPr id="923002429" name=""/>
          <p:cNvSpPr txBox="1"/>
          <p:nvPr/>
        </p:nvSpPr>
        <p:spPr bwMode="auto">
          <a:xfrm rot="0" flipH="0" flipV="0">
            <a:off x="2192691" y="1166633"/>
            <a:ext cx="1913106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ea typeface="Times New Roman"/>
                <a:cs typeface="Times New Roman"/>
              </a:rPr>
              <a:t>B, 1024, 768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900835662" name=""/>
          <p:cNvSpPr txBox="1"/>
          <p:nvPr/>
        </p:nvSpPr>
        <p:spPr bwMode="auto">
          <a:xfrm rot="0" flipH="0" flipV="0">
            <a:off x="2046763" y="3184695"/>
            <a:ext cx="2298645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ea typeface="Times New Roman"/>
                <a:cs typeface="Times New Roman"/>
              </a:rPr>
              <a:t>B, Num_texts,  4096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647060293" name=""/>
          <p:cNvSpPr/>
          <p:nvPr/>
        </p:nvSpPr>
        <p:spPr bwMode="auto">
          <a:xfrm rot="19549138" flipH="0" flipV="0">
            <a:off x="1683394" y="965325"/>
            <a:ext cx="659442" cy="13007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24506145" name=""/>
          <p:cNvSpPr/>
          <p:nvPr/>
        </p:nvSpPr>
        <p:spPr bwMode="auto">
          <a:xfrm rot="0" flipH="0" flipV="0">
            <a:off x="4237205" y="585706"/>
            <a:ext cx="479655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707306024" name=""/>
          <p:cNvSpPr/>
          <p:nvPr/>
        </p:nvSpPr>
        <p:spPr bwMode="auto">
          <a:xfrm rot="0" flipH="0" flipV="0">
            <a:off x="7654503" y="282388"/>
            <a:ext cx="510262" cy="971100"/>
          </a:xfrm>
          <a:prstGeom prst="cube">
            <a:avLst>
              <a:gd name="adj" fmla="val 25000"/>
            </a:avLst>
          </a:prstGeom>
          <a:solidFill>
            <a:srgbClr val="CF73E6"/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916680599" name=""/>
          <p:cNvSpPr/>
          <p:nvPr/>
        </p:nvSpPr>
        <p:spPr bwMode="auto">
          <a:xfrm rot="0" flipH="0" flipV="0">
            <a:off x="6963012" y="635121"/>
            <a:ext cx="479655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517687379" name=""/>
          <p:cNvSpPr/>
          <p:nvPr/>
        </p:nvSpPr>
        <p:spPr bwMode="auto">
          <a:xfrm rot="0" flipH="0" flipV="0">
            <a:off x="2516834" y="314737"/>
            <a:ext cx="1520077" cy="803485"/>
          </a:xfrm>
          <a:prstGeom prst="cube">
            <a:avLst>
              <a:gd name="adj" fmla="val 25000"/>
            </a:avLst>
          </a:prstGeom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579375624" name=""/>
          <p:cNvSpPr/>
          <p:nvPr/>
        </p:nvSpPr>
        <p:spPr bwMode="auto">
          <a:xfrm rot="0" flipH="0" flipV="0">
            <a:off x="191629" y="749000"/>
            <a:ext cx="1400121" cy="1721728"/>
          </a:xfrm>
          <a:prstGeom prst="can">
            <a:avLst>
              <a:gd name="adj" fmla="val 25000"/>
            </a:avLst>
          </a:prstGeom>
          <a:solidFill>
            <a:schemeClr val="bg2">
              <a:lumMod val="75000"/>
            </a:schemeClr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>
                <a:solidFill>
                  <a:schemeClr val="tx1"/>
                </a:solidFill>
              </a:rPr>
              <a:t>Tensor’s Disk</a:t>
            </a:r>
            <a:endParaRPr/>
          </a:p>
        </p:txBody>
      </p:sp>
      <p:sp>
        <p:nvSpPr>
          <p:cNvPr id="597810768" name=""/>
          <p:cNvSpPr/>
          <p:nvPr/>
        </p:nvSpPr>
        <p:spPr bwMode="auto">
          <a:xfrm rot="1759581" flipH="0" flipV="0">
            <a:off x="1767517" y="2175743"/>
            <a:ext cx="659441" cy="130071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485373133" name=""/>
          <p:cNvSpPr/>
          <p:nvPr/>
        </p:nvSpPr>
        <p:spPr bwMode="auto">
          <a:xfrm rot="0" flipH="0" flipV="0">
            <a:off x="2602716" y="2094589"/>
            <a:ext cx="1186737" cy="1017914"/>
          </a:xfrm>
          <a:prstGeom prst="cube">
            <a:avLst>
              <a:gd name="adj" fmla="val 25000"/>
            </a:avLst>
          </a:prstGeom>
          <a:solidFill>
            <a:schemeClr val="accent2">
              <a:lumMod val="60000"/>
              <a:lumOff val="40000"/>
            </a:schemeClr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664563665" name=""/>
          <p:cNvSpPr txBox="1"/>
          <p:nvPr/>
        </p:nvSpPr>
        <p:spPr bwMode="auto">
          <a:xfrm rot="0" flipH="0" flipV="0">
            <a:off x="6963012" y="1312738"/>
            <a:ext cx="1736508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sz="1400">
                <a:latin typeface="Times New Roman"/>
                <a:ea typeface="Times New Roman"/>
                <a:cs typeface="Times New Roman"/>
              </a:rPr>
              <a:t>B, Num_Terms, 4096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872374732" name=""/>
          <p:cNvSpPr/>
          <p:nvPr/>
        </p:nvSpPr>
        <p:spPr bwMode="auto">
          <a:xfrm rot="0" flipH="0" flipV="0">
            <a:off x="8801522" y="427579"/>
            <a:ext cx="1053712" cy="680717"/>
          </a:xfrm>
          <a:prstGeom prst="rect">
            <a:avLst/>
          </a:prstGeom>
          <a:solidFill>
            <a:schemeClr val="accent6">
              <a:alpha val="66000"/>
            </a:schemeClr>
          </a:solidFill>
          <a:ln w="19049" cap="flat" cmpd="sng" algn="ctr">
            <a:solidFill>
              <a:schemeClr val="tx1"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sz="1400" b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Squeeze + L2 normalize</a:t>
            </a:r>
            <a:endParaRPr b="0">
              <a:latin typeface="Times New Roman"/>
              <a:cs typeface="Times New Roman"/>
            </a:endParaRPr>
          </a:p>
        </p:txBody>
      </p:sp>
      <p:sp>
        <p:nvSpPr>
          <p:cNvPr id="1225013783" name=""/>
          <p:cNvSpPr/>
          <p:nvPr/>
        </p:nvSpPr>
        <p:spPr bwMode="auto">
          <a:xfrm rot="0" flipH="0" flipV="0">
            <a:off x="8275175" y="635121"/>
            <a:ext cx="479655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092592931" name=""/>
          <p:cNvSpPr/>
          <p:nvPr/>
        </p:nvSpPr>
        <p:spPr bwMode="auto">
          <a:xfrm rot="0" flipH="0" flipV="0">
            <a:off x="9073247" y="2167411"/>
            <a:ext cx="510262" cy="971100"/>
          </a:xfrm>
          <a:prstGeom prst="cube">
            <a:avLst>
              <a:gd name="adj" fmla="val 25000"/>
            </a:avLst>
          </a:prstGeom>
          <a:solidFill>
            <a:srgbClr val="CF73E6"/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676855262" name=""/>
          <p:cNvSpPr/>
          <p:nvPr/>
        </p:nvSpPr>
        <p:spPr bwMode="auto">
          <a:xfrm rot="5400000" flipH="0" flipV="0">
            <a:off x="9103854" y="1526781"/>
            <a:ext cx="479655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701395163" name=""/>
          <p:cNvSpPr txBox="1"/>
          <p:nvPr/>
        </p:nvSpPr>
        <p:spPr bwMode="auto">
          <a:xfrm rot="0" flipH="0" flipV="0">
            <a:off x="8515003" y="3184695"/>
            <a:ext cx="1599010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sz="1400">
                <a:latin typeface="Times New Roman"/>
                <a:ea typeface="Times New Roman"/>
                <a:cs typeface="Times New Roman"/>
              </a:rPr>
              <a:t>Num_Terms, 4096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1748645851" name=""/>
          <p:cNvSpPr/>
          <p:nvPr/>
        </p:nvSpPr>
        <p:spPr bwMode="auto">
          <a:xfrm rot="0" flipH="0" flipV="0">
            <a:off x="4575860" y="2263187"/>
            <a:ext cx="1053712" cy="680717"/>
          </a:xfrm>
          <a:prstGeom prst="rect">
            <a:avLst/>
          </a:prstGeom>
          <a:solidFill>
            <a:schemeClr val="accent6">
              <a:alpha val="66000"/>
            </a:schemeClr>
          </a:solidFill>
          <a:ln w="19049" cap="flat" cmpd="sng" algn="ctr">
            <a:solidFill>
              <a:schemeClr val="tx1"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sz="1400" b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Squeeze + L2 normalize</a:t>
            </a:r>
            <a:endParaRPr b="0">
              <a:latin typeface="Times New Roman"/>
              <a:cs typeface="Times New Roman"/>
            </a:endParaRPr>
          </a:p>
        </p:txBody>
      </p:sp>
      <p:sp>
        <p:nvSpPr>
          <p:cNvPr id="1779434937" name=""/>
          <p:cNvSpPr/>
          <p:nvPr/>
        </p:nvSpPr>
        <p:spPr bwMode="auto">
          <a:xfrm rot="0" flipH="0" flipV="0">
            <a:off x="3984145" y="2470728"/>
            <a:ext cx="479655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328018776" name=""/>
          <p:cNvSpPr/>
          <p:nvPr/>
        </p:nvSpPr>
        <p:spPr bwMode="auto">
          <a:xfrm rot="0" flipH="0" flipV="0">
            <a:off x="6467766" y="2135989"/>
            <a:ext cx="1186737" cy="1017914"/>
          </a:xfrm>
          <a:prstGeom prst="cube">
            <a:avLst>
              <a:gd name="adj" fmla="val 25000"/>
            </a:avLst>
          </a:prstGeom>
          <a:solidFill>
            <a:schemeClr val="accent2">
              <a:lumMod val="60000"/>
              <a:lumOff val="40000"/>
            </a:schemeClr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2080392294" name=""/>
          <p:cNvSpPr txBox="1"/>
          <p:nvPr/>
        </p:nvSpPr>
        <p:spPr bwMode="auto">
          <a:xfrm rot="0" flipH="0" flipV="0">
            <a:off x="5761500" y="3184695"/>
            <a:ext cx="2300444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ea typeface="Times New Roman"/>
                <a:cs typeface="Times New Roman"/>
              </a:rPr>
              <a:t>Num_texts,  4096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934140602" name=""/>
          <p:cNvSpPr/>
          <p:nvPr/>
        </p:nvSpPr>
        <p:spPr bwMode="auto">
          <a:xfrm rot="0" flipH="0" flipV="0">
            <a:off x="5761500" y="2458972"/>
            <a:ext cx="479655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301650985" name=""/>
          <p:cNvSpPr/>
          <p:nvPr/>
        </p:nvSpPr>
        <p:spPr bwMode="auto">
          <a:xfrm rot="5400000" flipH="0" flipV="0">
            <a:off x="9103854" y="3714917"/>
            <a:ext cx="479655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519144881" name=""/>
          <p:cNvSpPr/>
          <p:nvPr/>
        </p:nvSpPr>
        <p:spPr bwMode="auto">
          <a:xfrm rot="5400000" flipH="0" flipV="0">
            <a:off x="6763011" y="3714917"/>
            <a:ext cx="479655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251321748" name=""/>
          <p:cNvSpPr/>
          <p:nvPr/>
        </p:nvSpPr>
        <p:spPr bwMode="auto">
          <a:xfrm rot="0" flipH="0" flipV="0">
            <a:off x="5577975" y="4118161"/>
            <a:ext cx="4967940" cy="2493308"/>
          </a:xfrm>
          <a:prstGeom prst="flowChartAlternateProcess">
            <a:avLst/>
          </a:prstGeom>
          <a:noFill/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489844924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5905011" y="4670668"/>
            <a:ext cx="4313868" cy="492076"/>
          </a:xfrm>
          <a:prstGeom prst="rect">
            <a:avLst/>
          </a:prstGeom>
        </p:spPr>
      </p:pic>
      <p:sp>
        <p:nvSpPr>
          <p:cNvPr id="366479872" name=""/>
          <p:cNvSpPr txBox="1"/>
          <p:nvPr/>
        </p:nvSpPr>
        <p:spPr bwMode="auto">
          <a:xfrm rot="0" flipH="0" flipV="0">
            <a:off x="7202840" y="4194386"/>
            <a:ext cx="1605848" cy="3356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sz="1600">
                <a:latin typeface="Times New Roman"/>
                <a:ea typeface="Times New Roman"/>
                <a:cs typeface="Times New Roman"/>
              </a:rPr>
              <a:t>Similarity Matrix</a:t>
            </a:r>
            <a:endParaRPr sz="1600">
              <a:latin typeface="Times New Roman"/>
              <a:cs typeface="Times New Roman"/>
            </a:endParaRPr>
          </a:p>
        </p:txBody>
      </p:sp>
      <p:pic>
        <p:nvPicPr>
          <p:cNvPr id="286254095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5761500" y="5688015"/>
            <a:ext cx="4549565" cy="440957"/>
          </a:xfrm>
          <a:prstGeom prst="rect">
            <a:avLst/>
          </a:prstGeom>
        </p:spPr>
      </p:pic>
      <p:sp>
        <p:nvSpPr>
          <p:cNvPr id="1298525427" name=""/>
          <p:cNvSpPr txBox="1"/>
          <p:nvPr/>
        </p:nvSpPr>
        <p:spPr bwMode="auto">
          <a:xfrm rot="0" flipH="0" flipV="0">
            <a:off x="6658536" y="5237451"/>
            <a:ext cx="2806816" cy="3356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>
                <a:latin typeface="Times New Roman"/>
                <a:cs typeface="Times New Roman"/>
              </a:rPr>
              <a:t>Text-Image </a:t>
            </a:r>
            <a:endParaRPr sz="1600">
              <a:latin typeface="Times New Roman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ONLYOFFICE/9.3.1.8</Application>
  <PresentationFormat>On-screen Show (4:3)</PresentationFormat>
  <Paragraphs>0</Paragraphs>
  <Slides>3</Slides>
  <Notes>3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4" baseType="lpstr">
      <vt:lpstr>Theme 1</vt:lpstr>
      <vt:lpstr>Slide 1</vt:lpstr>
      <vt:lpstr>Slide 2</vt:lpstr>
      <vt:lpstr>Slide 3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13</cp:revision>
  <dcterms:modified xsi:type="dcterms:W3CDTF">2026-05-26T20:32:29Z</dcterms:modified>
</cp:coreProperties>
</file>