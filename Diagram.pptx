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912301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253381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0370221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979246574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1695095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37524215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61532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0098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9950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1662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06514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5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FB40B8-C03E-A3D8-FACF-85666CF612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96031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0179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325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988B9D-ECF5-44FE-A9D4-D6E41E6C2E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6693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83046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507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08BF53-4763-07FE-4BBC-F948933DEF1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800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72545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234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753B7-B744-8E7E-7997-E3C9BA6575C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92712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2009943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9215182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631857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67540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8577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746934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09444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259257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804358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86633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661321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864902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761152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358536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6016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074224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4483541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6461948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477082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213007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84026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272416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21652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918782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8629780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146138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9739815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45169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5985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835458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09251811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112577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10537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9461486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05405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14001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613896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561852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915834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041437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2834512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360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2854745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77933071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86700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507629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219053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67695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434415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9330215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193026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8941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68389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2843479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50283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3933783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324686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11687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8435191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1233349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3767966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166806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213770" name=""/>
          <p:cNvSpPr/>
          <p:nvPr/>
        </p:nvSpPr>
        <p:spPr bwMode="auto">
          <a:xfrm rot="0" flipH="0" flipV="0">
            <a:off x="2056338" y="587332"/>
            <a:ext cx="1651897" cy="1002980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DINOV3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574390950" name=""/>
          <p:cNvSpPr/>
          <p:nvPr/>
        </p:nvSpPr>
        <p:spPr bwMode="auto">
          <a:xfrm rot="0" flipH="0" flipV="0">
            <a:off x="2056338" y="2172294"/>
            <a:ext cx="1651897" cy="1022001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632739961" name=""/>
          <p:cNvSpPr/>
          <p:nvPr/>
        </p:nvSpPr>
        <p:spPr bwMode="auto">
          <a:xfrm rot="0" flipH="0" flipV="0">
            <a:off x="4648061" y="694980"/>
            <a:ext cx="179649" cy="668849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89486032" name=""/>
          <p:cNvSpPr txBox="1"/>
          <p:nvPr/>
        </p:nvSpPr>
        <p:spPr bwMode="auto">
          <a:xfrm rot="0" flipH="0" flipV="0">
            <a:off x="4104496" y="1423918"/>
            <a:ext cx="126678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94384243" name=""/>
          <p:cNvSpPr/>
          <p:nvPr/>
        </p:nvSpPr>
        <p:spPr bwMode="auto">
          <a:xfrm rot="0" flipH="0" flipV="0">
            <a:off x="5877881" y="587332"/>
            <a:ext cx="1450413" cy="884145"/>
          </a:xfrm>
          <a:prstGeom prst="rect">
            <a:avLst/>
          </a:prstGeom>
          <a:solidFill>
            <a:srgbClr val="FF0000">
              <a:alpha val="44999"/>
            </a:srgb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UPSAMPLER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414556406" name=""/>
          <p:cNvSpPr txBox="1"/>
          <p:nvPr/>
        </p:nvSpPr>
        <p:spPr bwMode="auto">
          <a:xfrm rot="0" flipH="0" flipV="0">
            <a:off x="7659884" y="1608817"/>
            <a:ext cx="190662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768, 224, 224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47141235" name=""/>
          <p:cNvSpPr/>
          <p:nvPr/>
        </p:nvSpPr>
        <p:spPr bwMode="auto">
          <a:xfrm rot="0" flipH="0" flipV="0">
            <a:off x="141029" y="808859"/>
            <a:ext cx="1512793" cy="2291434"/>
          </a:xfrm>
          <a:prstGeom prst="cube">
            <a:avLst>
              <a:gd name="adj" fmla="val 25000"/>
            </a:avLst>
          </a:prstGeom>
          <a:gradFill>
            <a:gsLst>
              <a:gs pos="0">
                <a:schemeClr val="accent1">
                  <a:alpha val="99999"/>
                </a:schemeClr>
              </a:gs>
              <a:gs pos="100000">
                <a:schemeClr val="accent2">
                  <a:lumMod val="60000"/>
                  <a:lumOff val="40000"/>
                  <a:alpha val="99999"/>
                </a:schemeClr>
              </a:gs>
            </a:gsLst>
            <a:lin ang="0" scaled="1"/>
          </a:gradFill>
          <a:ln w="12700" cap="flat" cmpd="sng" algn="ctr">
            <a:solidFill>
              <a:schemeClr val="accent1">
                <a:shade val="50000"/>
                <a:alpha val="84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8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Images</a:t>
            </a:r>
            <a:endParaRPr sz="18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8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And </a:t>
            </a:r>
            <a:endParaRPr sz="18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8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Captions</a:t>
            </a:r>
            <a:endParaRPr sz="20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851810961" name=""/>
          <p:cNvSpPr/>
          <p:nvPr/>
        </p:nvSpPr>
        <p:spPr bwMode="auto">
          <a:xfrm rot="0" flipH="0" flipV="0">
            <a:off x="4387680" y="2144904"/>
            <a:ext cx="1186738" cy="1017915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61519244" name=""/>
          <p:cNvSpPr txBox="1"/>
          <p:nvPr/>
        </p:nvSpPr>
        <p:spPr bwMode="auto">
          <a:xfrm rot="0" flipH="0" flipV="0">
            <a:off x="3832085" y="3291660"/>
            <a:ext cx="229792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66886533" name=""/>
          <p:cNvSpPr/>
          <p:nvPr/>
        </p:nvSpPr>
        <p:spPr bwMode="auto">
          <a:xfrm rot="0" flipH="0" flipV="0">
            <a:off x="3810955" y="981845"/>
            <a:ext cx="47965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39535562" name=""/>
          <p:cNvSpPr/>
          <p:nvPr/>
        </p:nvSpPr>
        <p:spPr bwMode="auto">
          <a:xfrm rot="0" flipH="0" flipV="0">
            <a:off x="8046021" y="511416"/>
            <a:ext cx="1185838" cy="108086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03216583" name=""/>
          <p:cNvSpPr/>
          <p:nvPr/>
        </p:nvSpPr>
        <p:spPr bwMode="auto">
          <a:xfrm rot="0" flipH="0" flipV="0">
            <a:off x="5224772" y="938288"/>
            <a:ext cx="507088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84983958" name=""/>
          <p:cNvSpPr/>
          <p:nvPr/>
        </p:nvSpPr>
        <p:spPr bwMode="auto">
          <a:xfrm rot="0" flipH="0" flipV="0">
            <a:off x="7406340" y="981845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3666206" name=""/>
          <p:cNvSpPr txBox="1"/>
          <p:nvPr/>
        </p:nvSpPr>
        <p:spPr bwMode="auto">
          <a:xfrm rot="0" flipH="0" flipV="0">
            <a:off x="5594558" y="1471477"/>
            <a:ext cx="191958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E.g. AnyUP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58679512" name=""/>
          <p:cNvSpPr/>
          <p:nvPr/>
        </p:nvSpPr>
        <p:spPr bwMode="auto">
          <a:xfrm rot="0" flipH="0" flipV="0">
            <a:off x="9933913" y="571471"/>
            <a:ext cx="1450413" cy="884144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AVG Pooling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353780311" name=""/>
          <p:cNvSpPr txBox="1"/>
          <p:nvPr/>
        </p:nvSpPr>
        <p:spPr bwMode="auto">
          <a:xfrm rot="0" flipH="0" flipV="0">
            <a:off x="9798000" y="3291660"/>
            <a:ext cx="190518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768, 32, 32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33943693" name=""/>
          <p:cNvSpPr/>
          <p:nvPr/>
        </p:nvSpPr>
        <p:spPr bwMode="auto">
          <a:xfrm rot="0" flipH="0" flipV="0">
            <a:off x="9312556" y="890729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23815239" name=""/>
          <p:cNvSpPr/>
          <p:nvPr/>
        </p:nvSpPr>
        <p:spPr bwMode="auto">
          <a:xfrm rot="0" flipH="0" flipV="0">
            <a:off x="10317821" y="2113427"/>
            <a:ext cx="682594" cy="1080867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70523624" name=""/>
          <p:cNvSpPr/>
          <p:nvPr/>
        </p:nvSpPr>
        <p:spPr bwMode="auto">
          <a:xfrm rot="5399976" flipH="0" flipV="0">
            <a:off x="10405576" y="1715762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58848834" name=""/>
          <p:cNvSpPr/>
          <p:nvPr/>
        </p:nvSpPr>
        <p:spPr bwMode="auto">
          <a:xfrm rot="0" flipH="0" flipV="0">
            <a:off x="3810955" y="270580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31475206" name=""/>
          <p:cNvSpPr/>
          <p:nvPr/>
        </p:nvSpPr>
        <p:spPr bwMode="auto">
          <a:xfrm rot="0" flipH="0" flipV="0">
            <a:off x="6884570" y="3855825"/>
            <a:ext cx="2322902" cy="1307350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015355008" name=""/>
          <p:cNvSpPr/>
          <p:nvPr/>
        </p:nvSpPr>
        <p:spPr bwMode="auto">
          <a:xfrm rot="5399976" flipH="0" flipV="0">
            <a:off x="6259949" y="2271794"/>
            <a:ext cx="1017867" cy="1782003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08175781" name=""/>
          <p:cNvSpPr/>
          <p:nvPr/>
        </p:nvSpPr>
        <p:spPr bwMode="auto">
          <a:xfrm rot="5399976" flipH="0" flipV="1">
            <a:off x="8722926" y="2271793"/>
            <a:ext cx="1017866" cy="178200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54297045" name=""/>
          <p:cNvSpPr/>
          <p:nvPr/>
        </p:nvSpPr>
        <p:spPr bwMode="auto">
          <a:xfrm rot="7959655" flipH="0" flipV="0">
            <a:off x="1401051" y="1429554"/>
            <a:ext cx="858220" cy="858637"/>
          </a:xfrm>
          <a:prstGeom prst="leftUpArrow">
            <a:avLst>
              <a:gd name="adj1" fmla="val 25000"/>
              <a:gd name="adj2" fmla="val 25000"/>
              <a:gd name="adj3" fmla="val 25000"/>
            </a:avLst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1"/>
          </a:gradFill>
          <a:ln w="12700" cap="flat" cmpd="sng" algn="ctr">
            <a:solidFill>
              <a:schemeClr val="accent1">
                <a:shade val="5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98503724" name=""/>
          <p:cNvSpPr txBox="1"/>
          <p:nvPr/>
        </p:nvSpPr>
        <p:spPr bwMode="auto">
          <a:xfrm rot="0" flipH="0" flipV="0">
            <a:off x="4981050" y="72956"/>
            <a:ext cx="184056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TRAINING</a:t>
            </a:r>
            <a:endParaRPr sz="1800" b="1">
              <a:latin typeface="Times New Roman"/>
              <a:cs typeface="Times New Roman"/>
            </a:endParaRPr>
          </a:p>
        </p:txBody>
      </p:sp>
      <p:sp>
        <p:nvSpPr>
          <p:cNvPr id="1511221684" name=""/>
          <p:cNvSpPr/>
          <p:nvPr/>
        </p:nvSpPr>
        <p:spPr bwMode="auto">
          <a:xfrm rot="0" flipH="0" flipV="0">
            <a:off x="7406340" y="5832788"/>
            <a:ext cx="1425668" cy="461181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Constrative loss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36426250" name=""/>
          <p:cNvSpPr/>
          <p:nvPr/>
        </p:nvSpPr>
        <p:spPr bwMode="auto">
          <a:xfrm rot="5399976" flipH="0" flipV="0">
            <a:off x="7865630" y="5429234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932116" name=""/>
          <p:cNvSpPr/>
          <p:nvPr/>
        </p:nvSpPr>
        <p:spPr bwMode="auto">
          <a:xfrm rot="0" flipH="0" flipV="0">
            <a:off x="1825935" y="1251902"/>
            <a:ext cx="1604841" cy="99071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Affine linear transformation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978679840" name=""/>
          <p:cNvSpPr/>
          <p:nvPr/>
        </p:nvSpPr>
        <p:spPr bwMode="auto">
          <a:xfrm rot="0" flipH="0" flipV="0">
            <a:off x="351870" y="979648"/>
            <a:ext cx="624199" cy="544507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75162881" name=""/>
          <p:cNvSpPr/>
          <p:nvPr/>
        </p:nvSpPr>
        <p:spPr bwMode="auto">
          <a:xfrm rot="0" flipH="0" flipV="0">
            <a:off x="463929" y="1655854"/>
            <a:ext cx="400081" cy="632013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79292914" name=""/>
          <p:cNvSpPr/>
          <p:nvPr/>
        </p:nvSpPr>
        <p:spPr bwMode="auto">
          <a:xfrm rot="0" flipH="0" flipV="0">
            <a:off x="267826" y="812426"/>
            <a:ext cx="812426" cy="1624852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9951828" name=""/>
          <p:cNvSpPr txBox="1"/>
          <p:nvPr/>
        </p:nvSpPr>
        <p:spPr bwMode="auto">
          <a:xfrm rot="0" flipH="0" flipV="0">
            <a:off x="28960" y="2525924"/>
            <a:ext cx="129521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with mismatch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276936395" name=""/>
          <p:cNvSpPr/>
          <p:nvPr/>
        </p:nvSpPr>
        <p:spPr bwMode="auto">
          <a:xfrm rot="0" flipH="0" flipV="0">
            <a:off x="4289461" y="979648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92094007" name=""/>
          <p:cNvSpPr/>
          <p:nvPr/>
        </p:nvSpPr>
        <p:spPr bwMode="auto">
          <a:xfrm rot="0" flipH="0" flipV="0">
            <a:off x="4205418" y="812426"/>
            <a:ext cx="812425" cy="1624851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2516017" name=""/>
          <p:cNvSpPr txBox="1"/>
          <p:nvPr/>
        </p:nvSpPr>
        <p:spPr bwMode="auto">
          <a:xfrm rot="0" flipH="0" flipV="0">
            <a:off x="3966552" y="2525924"/>
            <a:ext cx="1284778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with 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07940960" name=""/>
          <p:cNvSpPr/>
          <p:nvPr/>
        </p:nvSpPr>
        <p:spPr bwMode="auto">
          <a:xfrm rot="0" flipH="0" flipV="0">
            <a:off x="4289461" y="1747261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75446891" name=""/>
          <p:cNvSpPr/>
          <p:nvPr/>
        </p:nvSpPr>
        <p:spPr bwMode="auto">
          <a:xfrm rot="0" flipH="0" flipV="0">
            <a:off x="1196249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1570867" name=""/>
          <p:cNvSpPr/>
          <p:nvPr/>
        </p:nvSpPr>
        <p:spPr bwMode="auto">
          <a:xfrm rot="0" flipH="0" flipV="0">
            <a:off x="3571126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61317080" name=""/>
          <p:cNvSpPr txBox="1"/>
          <p:nvPr/>
        </p:nvSpPr>
        <p:spPr bwMode="auto">
          <a:xfrm rot="0" flipH="0" flipV="0">
            <a:off x="1984167" y="2284697"/>
            <a:ext cx="1289097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(Bias = True)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requires_grad=False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47969375" name=""/>
          <p:cNvSpPr/>
          <p:nvPr/>
        </p:nvSpPr>
        <p:spPr bwMode="auto">
          <a:xfrm rot="0" flipH="0" flipV="0">
            <a:off x="6095999" y="922917"/>
            <a:ext cx="1412400" cy="1603007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LoRA</a:t>
            </a:r>
            <a:endParaRPr sz="36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99440499" name=""/>
          <p:cNvSpPr/>
          <p:nvPr/>
        </p:nvSpPr>
        <p:spPr bwMode="auto">
          <a:xfrm rot="0" flipH="0" flipV="0">
            <a:off x="5367055" y="159501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89302109" name=""/>
          <p:cNvSpPr txBox="1"/>
          <p:nvPr/>
        </p:nvSpPr>
        <p:spPr bwMode="auto">
          <a:xfrm rot="0" flipH="0" flipV="0">
            <a:off x="7620954" y="931761"/>
            <a:ext cx="4340052" cy="1585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Base = </a:t>
            </a:r>
            <a:r>
              <a:rPr sz="1400">
                <a:latin typeface="Times New Roman"/>
                <a:cs typeface="Times New Roman"/>
              </a:rPr>
              <a:t> [B, 1024, 4096]</a:t>
            </a:r>
            <a:r>
              <a:rPr sz="1400">
                <a:latin typeface="Times New Roman"/>
                <a:cs typeface="Times New Roman"/>
              </a:rPr>
              <a:t> after linear layer (1024 patches)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Rank = 16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Matrix A = [768, rank] 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1 : </a:t>
            </a:r>
            <a:r>
              <a:rPr sz="1400">
                <a:latin typeface="Times New Roman"/>
                <a:cs typeface="Times New Roman"/>
              </a:rPr>
              <a:t> 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768] X A [768, 16] → [B, 1024, 16]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Matrix B = [16, 4096]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2 :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Operation 1 X Matrix B = [B, 1024, 4096]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Residual operation = Base + (Operation 2 *  (32 / rank))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438346543" name=""/>
          <p:cNvSpPr txBox="1"/>
          <p:nvPr/>
        </p:nvSpPr>
        <p:spPr bwMode="auto">
          <a:xfrm rot="0" flipH="0" flipV="0">
            <a:off x="4981050" y="72956"/>
            <a:ext cx="1843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ALIGNER</a:t>
            </a:r>
            <a:endParaRPr sz="1800" b="1">
              <a:latin typeface="Times New Roman"/>
              <a:cs typeface="Times New Roman"/>
            </a:endParaRPr>
          </a:p>
        </p:txBody>
      </p:sp>
      <p:sp>
        <p:nvSpPr>
          <p:cNvPr id="998706563" name=""/>
          <p:cNvSpPr/>
          <p:nvPr/>
        </p:nvSpPr>
        <p:spPr bwMode="auto">
          <a:xfrm rot="5399976" flipH="0" flipV="0">
            <a:off x="6447335" y="2885282"/>
            <a:ext cx="709728" cy="24323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53400097" name=""/>
          <p:cNvSpPr/>
          <p:nvPr/>
        </p:nvSpPr>
        <p:spPr bwMode="auto">
          <a:xfrm rot="0" flipH="0" flipV="0">
            <a:off x="41112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6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Query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965812022" name=""/>
          <p:cNvSpPr/>
          <p:nvPr/>
        </p:nvSpPr>
        <p:spPr bwMode="auto">
          <a:xfrm rot="0" flipH="0" flipV="0">
            <a:off x="6121397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  <a:alpha val="81000"/>
                </a:schemeClr>
              </a:gs>
              <a:gs pos="100000">
                <a:srgbClr val="FF0000">
                  <a:alpha val="81000"/>
                </a:srgbClr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44278264" name=""/>
          <p:cNvSpPr/>
          <p:nvPr/>
        </p:nvSpPr>
        <p:spPr bwMode="auto">
          <a:xfrm rot="0" flipH="0" flipV="0">
            <a:off x="81816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1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Value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89084889" name=""/>
          <p:cNvSpPr txBox="1"/>
          <p:nvPr/>
        </p:nvSpPr>
        <p:spPr bwMode="auto">
          <a:xfrm rot="0" flipH="0" flipV="0">
            <a:off x="4269291" y="4631583"/>
            <a:ext cx="129629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Text_queries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057164117" name=""/>
          <p:cNvSpPr txBox="1"/>
          <p:nvPr/>
        </p:nvSpPr>
        <p:spPr bwMode="auto">
          <a:xfrm rot="0" flipH="0" flipV="0">
            <a:off x="6324298" y="4631583"/>
            <a:ext cx="130205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65446028" name=""/>
          <p:cNvSpPr txBox="1"/>
          <p:nvPr/>
        </p:nvSpPr>
        <p:spPr bwMode="auto">
          <a:xfrm rot="0" flipH="0" flipV="0">
            <a:off x="8381697" y="4631583"/>
            <a:ext cx="130241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86135512" name=""/>
          <p:cNvSpPr/>
          <p:nvPr/>
        </p:nvSpPr>
        <p:spPr bwMode="auto">
          <a:xfrm rot="0" flipH="0" flipV="0">
            <a:off x="3810954" y="3429000"/>
            <a:ext cx="6175582" cy="1566955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93324964" name=""/>
          <p:cNvSpPr txBox="1"/>
          <p:nvPr/>
        </p:nvSpPr>
        <p:spPr bwMode="auto">
          <a:xfrm rot="0" flipH="0" flipV="0">
            <a:off x="1984167" y="3996583"/>
            <a:ext cx="178155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Cross Attention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(Multi-head attention)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300525318" name=""/>
          <p:cNvSpPr/>
          <p:nvPr/>
        </p:nvSpPr>
        <p:spPr bwMode="auto">
          <a:xfrm rot="5399976" flipH="0" flipV="0">
            <a:off x="6588903" y="5155967"/>
            <a:ext cx="426593" cy="24323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7774963" name=""/>
          <p:cNvSpPr/>
          <p:nvPr/>
        </p:nvSpPr>
        <p:spPr bwMode="auto">
          <a:xfrm rot="0" flipH="0" flipV="0">
            <a:off x="6198472" y="5518999"/>
            <a:ext cx="1207455" cy="52283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Softmax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669586710" name=""/>
          <p:cNvSpPr txBox="1"/>
          <p:nvPr/>
        </p:nvSpPr>
        <p:spPr bwMode="auto">
          <a:xfrm rot="0" flipH="0" flipV="0">
            <a:off x="7688885" y="6174852"/>
            <a:ext cx="173542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Times New Roman"/>
                <a:ea typeface="Times New Roman"/>
                <a:cs typeface="Times New Roman"/>
              </a:rPr>
              <a:t>Aligned Embedding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41569403" name=""/>
          <p:cNvSpPr/>
          <p:nvPr/>
        </p:nvSpPr>
        <p:spPr bwMode="auto">
          <a:xfrm rot="0" flipH="0" flipV="0">
            <a:off x="7620955" y="568930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44431296" name=""/>
          <p:cNvSpPr/>
          <p:nvPr/>
        </p:nvSpPr>
        <p:spPr bwMode="auto">
          <a:xfrm rot="0" flipH="0" flipV="0">
            <a:off x="8301288" y="5203752"/>
            <a:ext cx="510263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29780785" name=""/>
          <p:cNvSpPr/>
          <p:nvPr/>
        </p:nvSpPr>
        <p:spPr bwMode="auto">
          <a:xfrm rot="10799989" flipH="0" flipV="0">
            <a:off x="5476253" y="565946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89382807" name=""/>
          <p:cNvSpPr/>
          <p:nvPr/>
        </p:nvSpPr>
        <p:spPr bwMode="auto">
          <a:xfrm rot="0" flipH="0" flipV="0">
            <a:off x="5251330" y="5203752"/>
            <a:ext cx="115724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82839422" name=""/>
          <p:cNvSpPr txBox="1"/>
          <p:nvPr/>
        </p:nvSpPr>
        <p:spPr bwMode="auto">
          <a:xfrm rot="0" flipH="0" flipV="0">
            <a:off x="3054558" y="5490882"/>
            <a:ext cx="2126547" cy="853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Likelihood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Num_Heads, Lt, Lv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Lt (Lengh Textual terms)</a:t>
            </a:r>
            <a:br>
              <a:rPr sz="1100">
                <a:latin typeface="Times New Roman"/>
                <a:cs typeface="Times New Roman"/>
              </a:rPr>
            </a:br>
            <a:r>
              <a:rPr sz="1100">
                <a:latin typeface="Times New Roman"/>
                <a:cs typeface="Times New Roman"/>
              </a:rPr>
              <a:t>Lv (Lengh visual patches)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08925364" name=""/>
          <p:cNvSpPr txBox="1"/>
          <p:nvPr/>
        </p:nvSpPr>
        <p:spPr bwMode="auto">
          <a:xfrm rot="0" flipH="0" flipV="0">
            <a:off x="5643650" y="3907317"/>
            <a:ext cx="5182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X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14282513" name=""/>
          <p:cNvSpPr txBox="1"/>
          <p:nvPr/>
        </p:nvSpPr>
        <p:spPr bwMode="auto">
          <a:xfrm rot="0" flipH="0" flipV="0">
            <a:off x="7656800" y="3480746"/>
            <a:ext cx="40832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09778" name=""/>
          <p:cNvSpPr/>
          <p:nvPr/>
        </p:nvSpPr>
        <p:spPr bwMode="auto">
          <a:xfrm rot="0" flipH="0" flipV="0">
            <a:off x="2037661" y="587331"/>
            <a:ext cx="1437117" cy="850755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DINOV3</a:t>
            </a:r>
            <a:r>
              <a:rPr sz="1400" b="0">
                <a:solidFill>
                  <a:schemeClr val="tx1"/>
                </a:solidFill>
                <a:latin typeface="Times New Roman"/>
                <a:cs typeface="Times New Roman"/>
              </a:rPr>
              <a:t> + Upsampler + AVG Pooling</a:t>
            </a:r>
            <a:endParaRPr sz="1400" b="0">
              <a:latin typeface="Times New Roman"/>
              <a:cs typeface="Times New Roman"/>
            </a:endParaRPr>
          </a:p>
        </p:txBody>
      </p:sp>
      <p:sp>
        <p:nvSpPr>
          <p:cNvPr id="134779773" name=""/>
          <p:cNvSpPr/>
          <p:nvPr/>
        </p:nvSpPr>
        <p:spPr bwMode="auto">
          <a:xfrm rot="0" flipH="0" flipV="0">
            <a:off x="2037661" y="2240773"/>
            <a:ext cx="1203661" cy="701780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sz="1400" b="0">
              <a:latin typeface="Times New Roman"/>
              <a:cs typeface="Times New Roman"/>
            </a:endParaRPr>
          </a:p>
        </p:txBody>
      </p:sp>
      <p:pic>
        <p:nvPicPr>
          <p:cNvPr id="58058078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3617" y="351334"/>
            <a:ext cx="1066142" cy="1738276"/>
          </a:xfrm>
          <a:prstGeom prst="rect">
            <a:avLst/>
          </a:prstGeom>
        </p:spPr>
      </p:pic>
      <p:sp>
        <p:nvSpPr>
          <p:cNvPr id="411196009" name=""/>
          <p:cNvSpPr txBox="1"/>
          <p:nvPr/>
        </p:nvSpPr>
        <p:spPr bwMode="auto">
          <a:xfrm rot="0" flipH="0" flipV="0">
            <a:off x="61698" y="2393553"/>
            <a:ext cx="1309978" cy="5794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“the </a:t>
            </a:r>
            <a:r>
              <a:rPr lang="en-US" sz="16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orange tabby</a:t>
            </a:r>
            <a:r>
              <a:rPr sz="1600">
                <a:latin typeface="Times New Roman"/>
                <a:cs typeface="Times New Roman"/>
              </a:rPr>
              <a:t>”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128368116" name=""/>
          <p:cNvSpPr/>
          <p:nvPr/>
        </p:nvSpPr>
        <p:spPr bwMode="auto">
          <a:xfrm rot="0" flipH="0" flipV="0">
            <a:off x="3573856" y="997704"/>
            <a:ext cx="619291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60687683" name=""/>
          <p:cNvSpPr/>
          <p:nvPr/>
        </p:nvSpPr>
        <p:spPr bwMode="auto">
          <a:xfrm rot="0" flipH="0" flipV="0">
            <a:off x="1371678" y="1038240"/>
            <a:ext cx="506262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3671885" name=""/>
          <p:cNvSpPr/>
          <p:nvPr/>
        </p:nvSpPr>
        <p:spPr bwMode="auto">
          <a:xfrm rot="0" flipH="0" flipV="0">
            <a:off x="1371678" y="2561698"/>
            <a:ext cx="506261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26315274" name=""/>
          <p:cNvSpPr/>
          <p:nvPr/>
        </p:nvSpPr>
        <p:spPr bwMode="auto">
          <a:xfrm rot="0" flipH="0" flipV="0">
            <a:off x="6681925" y="605385"/>
            <a:ext cx="386885" cy="1149105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57938250" name=""/>
          <p:cNvSpPr txBox="1"/>
          <p:nvPr/>
        </p:nvSpPr>
        <p:spPr bwMode="auto">
          <a:xfrm rot="0" flipH="0" flipV="0">
            <a:off x="5915573" y="1784450"/>
            <a:ext cx="191958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01052276" name=""/>
          <p:cNvSpPr/>
          <p:nvPr/>
        </p:nvSpPr>
        <p:spPr bwMode="auto">
          <a:xfrm rot="0" flipH="0" flipV="0">
            <a:off x="4272434" y="627867"/>
            <a:ext cx="1559485" cy="922280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 + reshape + transpose operation</a:t>
            </a:r>
            <a:endParaRPr sz="1600" b="0">
              <a:latin typeface="Times New Roman"/>
              <a:cs typeface="Times New Roman"/>
            </a:endParaRPr>
          </a:p>
        </p:txBody>
      </p:sp>
      <p:sp>
        <p:nvSpPr>
          <p:cNvPr id="1391627261" name=""/>
          <p:cNvSpPr/>
          <p:nvPr/>
        </p:nvSpPr>
        <p:spPr bwMode="auto">
          <a:xfrm rot="0" flipH="0" flipV="0">
            <a:off x="5887122" y="997704"/>
            <a:ext cx="61929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27053525" name=""/>
          <p:cNvSpPr/>
          <p:nvPr/>
        </p:nvSpPr>
        <p:spPr bwMode="auto">
          <a:xfrm rot="0" flipH="0" flipV="0">
            <a:off x="7754334" y="1713178"/>
            <a:ext cx="1696915" cy="752865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16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1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16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712293187" name=""/>
          <p:cNvSpPr txBox="1"/>
          <p:nvPr/>
        </p:nvSpPr>
        <p:spPr bwMode="auto">
          <a:xfrm rot="0" flipH="0" flipV="0">
            <a:off x="3826664" y="72955"/>
            <a:ext cx="401051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GENERATE SCENE GRAPH</a:t>
            </a:r>
            <a:endParaRPr sz="1800" b="1">
              <a:latin typeface="Times New Roman"/>
              <a:cs typeface="Times New Roman"/>
            </a:endParaRPr>
          </a:p>
        </p:txBody>
      </p:sp>
      <p:sp>
        <p:nvSpPr>
          <p:cNvPr id="957692454" name=""/>
          <p:cNvSpPr/>
          <p:nvPr/>
        </p:nvSpPr>
        <p:spPr bwMode="auto">
          <a:xfrm rot="0" flipH="0" flipV="0">
            <a:off x="3377240" y="2561698"/>
            <a:ext cx="4888053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64575952" name=""/>
          <p:cNvSpPr/>
          <p:nvPr/>
        </p:nvSpPr>
        <p:spPr bwMode="auto">
          <a:xfrm rot="5399976" flipH="0" flipV="0">
            <a:off x="7542425" y="649858"/>
            <a:ext cx="552437" cy="1248148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97402113" name=""/>
          <p:cNvSpPr/>
          <p:nvPr/>
        </p:nvSpPr>
        <p:spPr bwMode="auto">
          <a:xfrm rot="0" flipH="0" flipV="0">
            <a:off x="9747073" y="2240772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2185936" name=""/>
          <p:cNvSpPr/>
          <p:nvPr/>
        </p:nvSpPr>
        <p:spPr bwMode="auto">
          <a:xfrm rot="0" flipH="0" flipV="0">
            <a:off x="9944342" y="813349"/>
            <a:ext cx="115723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07990439" name=""/>
          <p:cNvSpPr txBox="1"/>
          <p:nvPr/>
        </p:nvSpPr>
        <p:spPr bwMode="auto">
          <a:xfrm rot="0" flipH="0" flipV="0">
            <a:off x="10144109" y="847031"/>
            <a:ext cx="1941241" cy="8537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Likelihood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Num_Heads, Lt, Lv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Lt (Lengh Textual terms)</a:t>
            </a:r>
            <a:br>
              <a:rPr sz="1100">
                <a:latin typeface="Times New Roman"/>
                <a:cs typeface="Times New Roman"/>
              </a:rPr>
            </a:br>
            <a:r>
              <a:rPr sz="1100">
                <a:latin typeface="Times New Roman"/>
                <a:cs typeface="Times New Roman"/>
              </a:rPr>
              <a:t>Lv (Lengh visual patches)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62810764" name=""/>
          <p:cNvSpPr txBox="1"/>
          <p:nvPr/>
        </p:nvSpPr>
        <p:spPr bwMode="auto">
          <a:xfrm rot="0" flipH="0" flipV="0">
            <a:off x="10349563" y="2424033"/>
            <a:ext cx="1735788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Times New Roman"/>
                <a:ea typeface="Times New Roman"/>
                <a:cs typeface="Times New Roman"/>
              </a:rPr>
              <a:t>Aligned Embedding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93428972" name=""/>
          <p:cNvSpPr/>
          <p:nvPr/>
        </p:nvSpPr>
        <p:spPr bwMode="auto">
          <a:xfrm rot="19403571" flipH="0" flipV="0">
            <a:off x="9250273" y="1351923"/>
            <a:ext cx="61929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83862153" name=""/>
          <p:cNvSpPr/>
          <p:nvPr/>
        </p:nvSpPr>
        <p:spPr bwMode="auto">
          <a:xfrm rot="2701002" flipH="0" flipV="0">
            <a:off x="9134528" y="2652813"/>
            <a:ext cx="61929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12674244" name=""/>
          <p:cNvSpPr/>
          <p:nvPr/>
        </p:nvSpPr>
        <p:spPr bwMode="auto">
          <a:xfrm rot="0" flipH="0" flipV="0">
            <a:off x="3241321" y="3596819"/>
            <a:ext cx="7873409" cy="2192885"/>
          </a:xfrm>
          <a:prstGeom prst="rect">
            <a:avLst/>
          </a:prstGeom>
          <a:noFill/>
          <a:ln w="38100" cap="flat" cmpd="sng" algn="ctr">
            <a:solidFill>
              <a:srgbClr val="548235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/>
              <a:t>S</a:t>
            </a:r>
            <a:endParaRPr/>
          </a:p>
        </p:txBody>
      </p:sp>
      <p:sp>
        <p:nvSpPr>
          <p:cNvPr id="87571368" name=""/>
          <p:cNvSpPr txBox="1"/>
          <p:nvPr/>
        </p:nvSpPr>
        <p:spPr bwMode="auto">
          <a:xfrm rot="0" flipH="0" flipV="0">
            <a:off x="3103818" y="3261179"/>
            <a:ext cx="2953854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ea typeface="Times New Roman"/>
                <a:cs typeface="Times New Roman"/>
              </a:rPr>
              <a:t>For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Node</a:t>
            </a:r>
            <a:r>
              <a:rPr sz="1600">
                <a:latin typeface="Times New Roman"/>
                <a:ea typeface="Times New Roman"/>
                <a:cs typeface="Times New Roman"/>
              </a:rPr>
              <a:t> in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Candidates nodes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176739307" name=""/>
          <p:cNvSpPr/>
          <p:nvPr/>
        </p:nvSpPr>
        <p:spPr bwMode="auto">
          <a:xfrm rot="0" flipH="0" flipV="0">
            <a:off x="6984052" y="4360193"/>
            <a:ext cx="403446" cy="581043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81005764" name=""/>
          <p:cNvSpPr txBox="1"/>
          <p:nvPr/>
        </p:nvSpPr>
        <p:spPr bwMode="auto">
          <a:xfrm rot="0" flipH="0" flipV="0">
            <a:off x="189741" y="4546490"/>
            <a:ext cx="1341657" cy="9452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Objects from real-label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(candidates nodes)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91973594" name=""/>
          <p:cNvSpPr/>
          <p:nvPr/>
        </p:nvSpPr>
        <p:spPr bwMode="auto">
          <a:xfrm rot="0" flipH="0" flipV="0">
            <a:off x="242721" y="3383442"/>
            <a:ext cx="1203660" cy="701779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is like</a:t>
            </a: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 a LLM</a:t>
            </a:r>
            <a:endParaRPr sz="1400" b="0">
              <a:latin typeface="Times New Roman"/>
              <a:cs typeface="Times New Roman"/>
            </a:endParaRPr>
          </a:p>
        </p:txBody>
      </p:sp>
      <p:sp>
        <p:nvSpPr>
          <p:cNvPr id="270057522" name=""/>
          <p:cNvSpPr/>
          <p:nvPr/>
        </p:nvSpPr>
        <p:spPr bwMode="auto">
          <a:xfrm rot="5400000" flipH="0" flipV="0">
            <a:off x="670180" y="4281004"/>
            <a:ext cx="348741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16149760" name=""/>
          <p:cNvSpPr/>
          <p:nvPr/>
        </p:nvSpPr>
        <p:spPr bwMode="auto">
          <a:xfrm rot="0" flipH="0" flipV="0">
            <a:off x="242721" y="5943968"/>
            <a:ext cx="1203660" cy="701779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sz="1400" b="0">
              <a:latin typeface="Times New Roman"/>
              <a:cs typeface="Times New Roman"/>
            </a:endParaRPr>
          </a:p>
        </p:txBody>
      </p:sp>
      <p:sp>
        <p:nvSpPr>
          <p:cNvPr id="1328376950" name=""/>
          <p:cNvSpPr/>
          <p:nvPr/>
        </p:nvSpPr>
        <p:spPr bwMode="auto">
          <a:xfrm rot="5400000" flipH="0" flipV="0">
            <a:off x="681013" y="5648944"/>
            <a:ext cx="327077" cy="16206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22968578" name=""/>
          <p:cNvSpPr/>
          <p:nvPr/>
        </p:nvSpPr>
        <p:spPr bwMode="auto">
          <a:xfrm rot="0" flipH="0" flipV="0">
            <a:off x="1531399" y="6203742"/>
            <a:ext cx="506259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20378759" name=""/>
          <p:cNvSpPr txBox="1"/>
          <p:nvPr/>
        </p:nvSpPr>
        <p:spPr bwMode="auto">
          <a:xfrm rot="0" flipH="0" flipV="0">
            <a:off x="1371676" y="4941236"/>
            <a:ext cx="179565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E.g: [“Cat”, “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collar”</a:t>
            </a:r>
            <a:r>
              <a:rPr sz="1400">
                <a:latin typeface="Times New Roman"/>
                <a:cs typeface="Times New Roman"/>
              </a:rPr>
              <a:t>]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65945464" name=""/>
          <p:cNvSpPr/>
          <p:nvPr/>
        </p:nvSpPr>
        <p:spPr bwMode="auto">
          <a:xfrm rot="0" flipH="0" flipV="0">
            <a:off x="2269506" y="5893514"/>
            <a:ext cx="701007" cy="599856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04993639" name=""/>
          <p:cNvSpPr txBox="1"/>
          <p:nvPr/>
        </p:nvSpPr>
        <p:spPr bwMode="auto">
          <a:xfrm rot="0" flipH="0" flipV="0">
            <a:off x="1614483" y="6493168"/>
            <a:ext cx="205109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Num_texts,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58179379" name=""/>
          <p:cNvSpPr txBox="1"/>
          <p:nvPr/>
        </p:nvSpPr>
        <p:spPr bwMode="auto">
          <a:xfrm rot="0" flipH="0" flipV="0">
            <a:off x="6575329" y="3952543"/>
            <a:ext cx="180105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L2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32792948" name=""/>
          <p:cNvSpPr/>
          <p:nvPr/>
        </p:nvSpPr>
        <p:spPr bwMode="auto">
          <a:xfrm rot="0" flipH="0" flipV="0">
            <a:off x="7557428" y="4459866"/>
            <a:ext cx="393810" cy="381697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75827753" name=""/>
          <p:cNvSpPr/>
          <p:nvPr/>
        </p:nvSpPr>
        <p:spPr bwMode="auto">
          <a:xfrm rot="0" flipH="0" flipV="0">
            <a:off x="6310849" y="4546490"/>
            <a:ext cx="391124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8622750" name=""/>
          <p:cNvSpPr/>
          <p:nvPr/>
        </p:nvSpPr>
        <p:spPr bwMode="auto">
          <a:xfrm rot="0" flipH="0" flipV="0">
            <a:off x="6803794" y="4228725"/>
            <a:ext cx="1293409" cy="865090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91683749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25367" y="4287294"/>
            <a:ext cx="2871399" cy="713353"/>
          </a:xfrm>
          <a:prstGeom prst="rect">
            <a:avLst/>
          </a:prstGeom>
        </p:spPr>
      </p:pic>
      <p:sp>
        <p:nvSpPr>
          <p:cNvPr id="1480071752" name=""/>
          <p:cNvSpPr txBox="1"/>
          <p:nvPr/>
        </p:nvSpPr>
        <p:spPr bwMode="auto">
          <a:xfrm rot="0" flipH="0" flipV="0">
            <a:off x="5217932" y="3647383"/>
            <a:ext cx="418424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Cosine similarity calculation</a:t>
            </a:r>
            <a:r>
              <a:rPr sz="1400">
                <a:latin typeface="Times New Roman"/>
                <a:cs typeface="Times New Roman"/>
              </a:rPr>
              <a:t> for retrieval score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033766698" name=""/>
          <p:cNvSpPr/>
          <p:nvPr/>
        </p:nvSpPr>
        <p:spPr bwMode="auto">
          <a:xfrm rot="0" flipH="0" flipV="0">
            <a:off x="8265292" y="4546490"/>
            <a:ext cx="391123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77504598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8731138" y="5181269"/>
            <a:ext cx="2110410" cy="548706"/>
          </a:xfrm>
          <a:prstGeom prst="rect">
            <a:avLst/>
          </a:prstGeom>
          <a:ln w="12700">
            <a:solidFill>
              <a:schemeClr val="tx1"/>
            </a:solidFill>
            <a:prstDash val="solid"/>
          </a:ln>
        </p:spPr>
      </p:pic>
      <p:pic>
        <p:nvPicPr>
          <p:cNvPr id="118381453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708791" y="4561704"/>
            <a:ext cx="2251408" cy="334036"/>
          </a:xfrm>
          <a:prstGeom prst="rect">
            <a:avLst/>
          </a:prstGeom>
          <a:ln w="19050">
            <a:noFill/>
            <a:prstDash val="solid"/>
          </a:ln>
        </p:spPr>
      </p:pic>
      <p:pic>
        <p:nvPicPr>
          <p:cNvPr id="424009485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8708791" y="4018402"/>
            <a:ext cx="2155105" cy="321769"/>
          </a:xfrm>
          <a:prstGeom prst="rect">
            <a:avLst/>
          </a:prstGeom>
        </p:spPr>
      </p:pic>
      <p:sp>
        <p:nvSpPr>
          <p:cNvPr id="1067153033" name=""/>
          <p:cNvSpPr/>
          <p:nvPr/>
        </p:nvSpPr>
        <p:spPr bwMode="auto">
          <a:xfrm rot="5400000" flipH="0" flipV="0">
            <a:off x="9680614" y="4389188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80437073" name=""/>
          <p:cNvSpPr/>
          <p:nvPr/>
        </p:nvSpPr>
        <p:spPr bwMode="auto">
          <a:xfrm rot="5400000" flipH="0" flipV="0">
            <a:off x="9680614" y="4965935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34129319" name=""/>
          <p:cNvSpPr/>
          <p:nvPr/>
        </p:nvSpPr>
        <p:spPr bwMode="auto">
          <a:xfrm rot="0" flipH="0" flipV="0">
            <a:off x="5640537" y="5943967"/>
            <a:ext cx="3108068" cy="594729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IF Score &gt; threshold :</a:t>
            </a:r>
            <a:endParaRPr lang="en-US" sz="1400" b="0" i="0" u="none" strike="noStrike" cap="none" spc="0">
              <a:solidFill>
                <a:schemeClr val="tx1">
                  <a:lumMod val="90000"/>
                  <a:lumOff val="5000"/>
                </a:schemeClr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	</a:t>
            </a: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Add </a:t>
            </a:r>
            <a:r>
              <a:rPr lang="en-US" sz="1400" b="1" i="0" u="none" strike="noStrike" cap="none" spc="0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</a:rPr>
              <a:t>Node</a:t>
            </a: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 in </a:t>
            </a:r>
            <a:r>
              <a:rPr lang="en-US" sz="1400" b="1" i="0" u="sng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Final Graph</a:t>
            </a:r>
            <a:endParaRPr sz="1400" b="0" i="0" u="none" strike="noStrike" cap="none" spc="0">
              <a:solidFill>
                <a:schemeClr val="tx1">
                  <a:lumMod val="90000"/>
                  <a:lumOff val="5000"/>
                </a:schemeClr>
              </a:solidFill>
              <a:latin typeface="Times New Roman"/>
              <a:cs typeface="Times New Roman"/>
            </a:endParaRPr>
          </a:p>
        </p:txBody>
      </p:sp>
      <p:pic>
        <p:nvPicPr>
          <p:cNvPr id="40016117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8708791" y="4569335"/>
            <a:ext cx="2251408" cy="334036"/>
          </a:xfrm>
          <a:prstGeom prst="rect">
            <a:avLst/>
          </a:prstGeom>
          <a:ln w="19050">
            <a:noFill/>
            <a:prstDash val="solid"/>
          </a:ln>
        </p:spPr>
      </p:pic>
      <p:pic>
        <p:nvPicPr>
          <p:cNvPr id="61614383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8708791" y="4026032"/>
            <a:ext cx="2155105" cy="321769"/>
          </a:xfrm>
          <a:prstGeom prst="rect">
            <a:avLst/>
          </a:prstGeom>
        </p:spPr>
      </p:pic>
      <p:sp>
        <p:nvSpPr>
          <p:cNvPr id="75642943" name=""/>
          <p:cNvSpPr/>
          <p:nvPr/>
        </p:nvSpPr>
        <p:spPr bwMode="auto">
          <a:xfrm rot="5400000" flipH="0" flipV="0">
            <a:off x="9680614" y="4396819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61167114" name=""/>
          <p:cNvSpPr/>
          <p:nvPr/>
        </p:nvSpPr>
        <p:spPr bwMode="auto">
          <a:xfrm rot="5400000" flipH="0" flipV="0">
            <a:off x="9680614" y="4973566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870990" name=""/>
          <p:cNvSpPr/>
          <p:nvPr/>
        </p:nvSpPr>
        <p:spPr bwMode="auto">
          <a:xfrm rot="0" flipH="0" flipV="0">
            <a:off x="319837" y="1590393"/>
            <a:ext cx="343858" cy="78937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36562754" name=""/>
          <p:cNvSpPr txBox="1"/>
          <p:nvPr/>
        </p:nvSpPr>
        <p:spPr bwMode="auto">
          <a:xfrm rot="0" flipH="0" flipV="0">
            <a:off x="725724" y="1870723"/>
            <a:ext cx="170786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291167687" name=""/>
          <p:cNvSpPr/>
          <p:nvPr/>
        </p:nvSpPr>
        <p:spPr bwMode="auto">
          <a:xfrm rot="0" flipH="0" flipV="0">
            <a:off x="283852" y="2610661"/>
            <a:ext cx="423316" cy="380743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36037657" name=""/>
          <p:cNvSpPr txBox="1"/>
          <p:nvPr/>
        </p:nvSpPr>
        <p:spPr bwMode="auto">
          <a:xfrm rot="0" flipH="0" flipV="0">
            <a:off x="566238" y="2516586"/>
            <a:ext cx="198483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Embeddings for </a:t>
            </a:r>
            <a:endParaRPr sz="1400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candidate relation</a:t>
            </a:r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707425461" name=""/>
          <p:cNvSpPr/>
          <p:nvPr/>
        </p:nvSpPr>
        <p:spPr bwMode="auto">
          <a:xfrm rot="0" flipH="0" flipV="0">
            <a:off x="2795067" y="1392883"/>
            <a:ext cx="8022108" cy="4748473"/>
          </a:xfrm>
          <a:prstGeom prst="rect">
            <a:avLst/>
          </a:prstGeom>
          <a:noFill/>
          <a:ln w="38100" cap="flat" cmpd="sng" algn="ctr">
            <a:solidFill>
              <a:srgbClr val="548235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/>
              <a:t>S</a:t>
            </a:r>
            <a:endParaRPr/>
          </a:p>
        </p:txBody>
      </p:sp>
      <p:sp>
        <p:nvSpPr>
          <p:cNvPr id="36723230" name=""/>
          <p:cNvSpPr txBox="1"/>
          <p:nvPr/>
        </p:nvSpPr>
        <p:spPr bwMode="auto">
          <a:xfrm rot="0" flipH="0" flipV="0">
            <a:off x="4813128" y="1527771"/>
            <a:ext cx="419540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Compute directional context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15490102" name=""/>
          <p:cNvSpPr txBox="1"/>
          <p:nvPr/>
        </p:nvSpPr>
        <p:spPr bwMode="auto">
          <a:xfrm rot="0" flipH="0" flipV="0">
            <a:off x="2433591" y="804686"/>
            <a:ext cx="2959254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ea typeface="Times New Roman"/>
                <a:cs typeface="Times New Roman"/>
              </a:rPr>
              <a:t>For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Node</a:t>
            </a:r>
            <a:r>
              <a:rPr sz="1600" b="1">
                <a:latin typeface="Times New Roman"/>
                <a:ea typeface="Times New Roman"/>
                <a:cs typeface="Times New Roman"/>
              </a:rPr>
              <a:t>_a</a:t>
            </a:r>
            <a:r>
              <a:rPr sz="1600">
                <a:latin typeface="Times New Roman"/>
                <a:ea typeface="Times New Roman"/>
                <a:cs typeface="Times New Roman"/>
              </a:rPr>
              <a:t> in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Final_graph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253134314" name=""/>
          <p:cNvSpPr txBox="1"/>
          <p:nvPr/>
        </p:nvSpPr>
        <p:spPr bwMode="auto">
          <a:xfrm rot="0" flipH="0" flipV="0">
            <a:off x="2571896" y="1057243"/>
            <a:ext cx="2962134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ea typeface="Times New Roman"/>
                <a:cs typeface="Times New Roman"/>
              </a:rPr>
              <a:t>For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Node</a:t>
            </a:r>
            <a:r>
              <a:rPr sz="1600" b="1">
                <a:latin typeface="Times New Roman"/>
                <a:ea typeface="Times New Roman"/>
                <a:cs typeface="Times New Roman"/>
              </a:rPr>
              <a:t>_b</a:t>
            </a:r>
            <a:r>
              <a:rPr sz="1600">
                <a:latin typeface="Times New Roman"/>
                <a:ea typeface="Times New Roman"/>
                <a:cs typeface="Times New Roman"/>
              </a:rPr>
              <a:t> in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Final_graph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641946903" name=""/>
          <p:cNvSpPr/>
          <p:nvPr/>
        </p:nvSpPr>
        <p:spPr bwMode="auto">
          <a:xfrm rot="0" flipH="0" flipV="0">
            <a:off x="3546554" y="1994904"/>
            <a:ext cx="253999" cy="235856"/>
          </a:xfrm>
          <a:prstGeom prst="flowChartConnector">
            <a:avLst/>
          </a:prstGeom>
          <a:solidFill>
            <a:schemeClr val="accent4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7487538" name=""/>
          <p:cNvSpPr/>
          <p:nvPr/>
        </p:nvSpPr>
        <p:spPr bwMode="auto">
          <a:xfrm rot="0" flipH="0" flipV="0">
            <a:off x="3546554" y="2991405"/>
            <a:ext cx="253999" cy="235856"/>
          </a:xfrm>
          <a:prstGeom prst="flowChartConnector">
            <a:avLst/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3718877" name=""/>
          <p:cNvSpPr txBox="1"/>
          <p:nvPr/>
        </p:nvSpPr>
        <p:spPr bwMode="auto">
          <a:xfrm rot="0" flipH="0" flipV="0">
            <a:off x="2839651" y="2230761"/>
            <a:ext cx="170966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Node_a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750101597" name=""/>
          <p:cNvSpPr txBox="1"/>
          <p:nvPr/>
        </p:nvSpPr>
        <p:spPr bwMode="auto">
          <a:xfrm rot="0" flipH="0" flipV="0">
            <a:off x="2818181" y="3183093"/>
            <a:ext cx="17107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Node_b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44326331" name=""/>
          <p:cNvSpPr/>
          <p:nvPr/>
        </p:nvSpPr>
        <p:spPr bwMode="auto">
          <a:xfrm rot="0" flipH="0" flipV="0">
            <a:off x="4602415" y="2433223"/>
            <a:ext cx="1173671" cy="512695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unsqueeze</a:t>
            </a:r>
            <a:endParaRPr sz="1600" b="0">
              <a:latin typeface="Times New Roman"/>
              <a:cs typeface="Times New Roman"/>
            </a:endParaRPr>
          </a:p>
        </p:txBody>
      </p:sp>
      <p:sp>
        <p:nvSpPr>
          <p:cNvPr id="1016464312" name=""/>
          <p:cNvSpPr/>
          <p:nvPr/>
        </p:nvSpPr>
        <p:spPr bwMode="auto">
          <a:xfrm rot="2611531" flipH="0" flipV="0">
            <a:off x="3989235" y="2329004"/>
            <a:ext cx="57659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70485698" name=""/>
          <p:cNvSpPr/>
          <p:nvPr/>
        </p:nvSpPr>
        <p:spPr bwMode="auto">
          <a:xfrm rot="19403571" flipH="0" flipV="0">
            <a:off x="3967940" y="2844495"/>
            <a:ext cx="584712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32394781" name=""/>
          <p:cNvSpPr txBox="1"/>
          <p:nvPr/>
        </p:nvSpPr>
        <p:spPr bwMode="auto">
          <a:xfrm rot="0" flipH="0" flipV="0">
            <a:off x="3963821" y="2991405"/>
            <a:ext cx="2452299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Times New Roman"/>
                <a:ea typeface="Times New Roman"/>
                <a:cs typeface="Times New Roman"/>
              </a:rPr>
              <a:t>1, 1, 4096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200">
                <a:latin typeface="Times New Roman"/>
                <a:cs typeface="Times New Roman"/>
              </a:rPr>
              <a:t>(B, Lenght_Seq, Dim_Embed)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480899019" name=""/>
          <p:cNvSpPr/>
          <p:nvPr/>
        </p:nvSpPr>
        <p:spPr bwMode="auto">
          <a:xfrm rot="0" flipH="0" flipV="0">
            <a:off x="6367834" y="2127051"/>
            <a:ext cx="181428" cy="306172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89691950" name=""/>
          <p:cNvSpPr/>
          <p:nvPr/>
        </p:nvSpPr>
        <p:spPr bwMode="auto">
          <a:xfrm rot="0" flipH="0" flipV="0">
            <a:off x="6367834" y="2608364"/>
            <a:ext cx="181427" cy="306171"/>
          </a:xfrm>
          <a:prstGeom prst="flowChartOffpageConnector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41583404" name=""/>
          <p:cNvSpPr/>
          <p:nvPr/>
        </p:nvSpPr>
        <p:spPr bwMode="auto">
          <a:xfrm rot="0" flipH="0" flipV="0">
            <a:off x="6367834" y="3136292"/>
            <a:ext cx="181427" cy="306171"/>
          </a:xfrm>
          <a:prstGeom prst="flowChartOffpageConnector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00993254" name=""/>
          <p:cNvSpPr/>
          <p:nvPr/>
        </p:nvSpPr>
        <p:spPr bwMode="auto">
          <a:xfrm rot="0" flipH="0" flipV="0">
            <a:off x="5856906" y="2593614"/>
            <a:ext cx="394803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40917402" name=""/>
          <p:cNvSpPr txBox="1"/>
          <p:nvPr/>
        </p:nvSpPr>
        <p:spPr bwMode="auto">
          <a:xfrm rot="0" flipH="0" flipV="0">
            <a:off x="6542191" y="2128064"/>
            <a:ext cx="3601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Q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86399047" name=""/>
          <p:cNvSpPr txBox="1"/>
          <p:nvPr/>
        </p:nvSpPr>
        <p:spPr bwMode="auto">
          <a:xfrm rot="0" flipH="0" flipV="0">
            <a:off x="6500009" y="2609375"/>
            <a:ext cx="444491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K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89760208" name=""/>
          <p:cNvSpPr txBox="1"/>
          <p:nvPr/>
        </p:nvSpPr>
        <p:spPr bwMode="auto">
          <a:xfrm rot="0" flipH="0" flipV="0">
            <a:off x="6549261" y="3144821"/>
            <a:ext cx="36156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358064925" name=""/>
          <p:cNvSpPr txBox="1"/>
          <p:nvPr/>
        </p:nvSpPr>
        <p:spPr bwMode="auto">
          <a:xfrm rot="0" flipH="0" flipV="0">
            <a:off x="6600338" y="2532996"/>
            <a:ext cx="411566" cy="2289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900">
                <a:latin typeface="Times New Roman"/>
                <a:cs typeface="Times New Roman"/>
              </a:rPr>
              <a:t>T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838785588" name=""/>
          <p:cNvSpPr/>
          <p:nvPr/>
        </p:nvSpPr>
        <p:spPr bwMode="auto">
          <a:xfrm rot="0" flipH="0" flipV="0">
            <a:off x="6902320" y="2608364"/>
            <a:ext cx="426591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92642720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548034" y="2469039"/>
            <a:ext cx="3182662" cy="476880"/>
          </a:xfrm>
          <a:prstGeom prst="rect">
            <a:avLst/>
          </a:prstGeom>
        </p:spPr>
      </p:pic>
      <p:pic>
        <p:nvPicPr>
          <p:cNvPr id="56919667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954840" y="1758779"/>
            <a:ext cx="1832428" cy="569952"/>
          </a:xfrm>
          <a:prstGeom prst="rect">
            <a:avLst/>
          </a:prstGeom>
        </p:spPr>
      </p:pic>
      <p:sp>
        <p:nvSpPr>
          <p:cNvPr id="1135614231" name=""/>
          <p:cNvSpPr/>
          <p:nvPr/>
        </p:nvSpPr>
        <p:spPr bwMode="auto">
          <a:xfrm rot="5400000" flipH="0" flipV="0">
            <a:off x="8902805" y="2269024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79715529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752574" y="3220185"/>
            <a:ext cx="2673981" cy="265803"/>
          </a:xfrm>
          <a:prstGeom prst="rect">
            <a:avLst/>
          </a:prstGeom>
        </p:spPr>
      </p:pic>
      <p:sp>
        <p:nvSpPr>
          <p:cNvPr id="2038677187" name=""/>
          <p:cNvSpPr/>
          <p:nvPr/>
        </p:nvSpPr>
        <p:spPr bwMode="auto">
          <a:xfrm rot="5400000" flipH="0" flipV="0">
            <a:off x="8902805" y="2996332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14344965" name=""/>
          <p:cNvSpPr txBox="1"/>
          <p:nvPr/>
        </p:nvSpPr>
        <p:spPr bwMode="auto">
          <a:xfrm rot="0" flipH="0" flipV="0">
            <a:off x="7752574" y="3449981"/>
            <a:ext cx="1061362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Times New Roman"/>
                <a:ea typeface="Times New Roman"/>
                <a:cs typeface="Times New Roman"/>
              </a:rPr>
              <a:t>(softmax)</a:t>
            </a:r>
            <a:endParaRPr sz="1400">
              <a:latin typeface="Times New Roman"/>
              <a:cs typeface="Times New Roman"/>
            </a:endParaRPr>
          </a:p>
        </p:txBody>
      </p:sp>
      <p:pic>
        <p:nvPicPr>
          <p:cNvPr id="37119556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7845413" y="3955447"/>
            <a:ext cx="2488303" cy="221056"/>
          </a:xfrm>
          <a:prstGeom prst="rect">
            <a:avLst/>
          </a:prstGeom>
        </p:spPr>
      </p:pic>
      <p:sp>
        <p:nvSpPr>
          <p:cNvPr id="1452396334" name=""/>
          <p:cNvSpPr/>
          <p:nvPr/>
        </p:nvSpPr>
        <p:spPr bwMode="auto">
          <a:xfrm rot="5400000" flipH="0" flipV="0">
            <a:off x="8893144" y="3749360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15730779" name=""/>
          <p:cNvSpPr/>
          <p:nvPr/>
        </p:nvSpPr>
        <p:spPr bwMode="auto">
          <a:xfrm rot="0" flipH="0" flipV="0">
            <a:off x="8421699" y="4508782"/>
            <a:ext cx="1173670" cy="512695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</a:t>
            </a:r>
            <a:endParaRPr sz="1600" b="0">
              <a:latin typeface="Times New Roman"/>
              <a:cs typeface="Times New Roman"/>
            </a:endParaRPr>
          </a:p>
        </p:txBody>
      </p:sp>
      <p:sp>
        <p:nvSpPr>
          <p:cNvPr id="1316463464" name=""/>
          <p:cNvSpPr/>
          <p:nvPr/>
        </p:nvSpPr>
        <p:spPr bwMode="auto">
          <a:xfrm rot="5400000" flipH="0" flipV="0">
            <a:off x="8893144" y="4249451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18461238" name=""/>
          <p:cNvSpPr txBox="1"/>
          <p:nvPr/>
        </p:nvSpPr>
        <p:spPr bwMode="auto">
          <a:xfrm rot="0" flipH="0" flipV="0">
            <a:off x="7752574" y="4193141"/>
            <a:ext cx="10726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[1, 1, 4096]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257456279" name=""/>
          <p:cNvSpPr/>
          <p:nvPr/>
        </p:nvSpPr>
        <p:spPr bwMode="auto">
          <a:xfrm rot="0" flipH="0" flipV="0">
            <a:off x="8749195" y="5402223"/>
            <a:ext cx="518678" cy="494510"/>
          </a:xfrm>
          <a:prstGeom prst="cube">
            <a:avLst>
              <a:gd name="adj" fmla="val 25000"/>
            </a:avLst>
          </a:prstGeom>
          <a:solidFill>
            <a:schemeClr val="tx1">
              <a:lumMod val="75000"/>
              <a:lumOff val="2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17884340" name=""/>
          <p:cNvSpPr/>
          <p:nvPr/>
        </p:nvSpPr>
        <p:spPr bwMode="auto">
          <a:xfrm rot="5400000" flipH="0" flipV="0">
            <a:off x="8893144" y="5145707"/>
            <a:ext cx="211458" cy="1620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58319005" name=""/>
          <p:cNvSpPr txBox="1"/>
          <p:nvPr/>
        </p:nvSpPr>
        <p:spPr bwMode="auto">
          <a:xfrm rot="0" flipH="0" flipV="0">
            <a:off x="9314196" y="5496898"/>
            <a:ext cx="77315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[4096]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637826588" name=""/>
          <p:cNvSpPr txBox="1"/>
          <p:nvPr/>
        </p:nvSpPr>
        <p:spPr bwMode="auto">
          <a:xfrm rot="0" flipH="0" flipV="0">
            <a:off x="9700771" y="2046163"/>
            <a:ext cx="1080210" cy="2594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1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(dk = 4096)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58197489" name=""/>
          <p:cNvSpPr/>
          <p:nvPr/>
        </p:nvSpPr>
        <p:spPr bwMode="auto">
          <a:xfrm rot="5399976" flipH="0" flipV="0">
            <a:off x="952727" y="3531395"/>
            <a:ext cx="486679" cy="24323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58579269" name=""/>
          <p:cNvSpPr/>
          <p:nvPr/>
        </p:nvSpPr>
        <p:spPr bwMode="auto">
          <a:xfrm rot="0" flipH="0" flipV="0">
            <a:off x="319837" y="4093567"/>
            <a:ext cx="1742668" cy="1001985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42719654" name=""/>
          <p:cNvSpPr/>
          <p:nvPr/>
        </p:nvSpPr>
        <p:spPr bwMode="auto">
          <a:xfrm rot="0" flipH="0" flipV="0">
            <a:off x="188095" y="1445323"/>
            <a:ext cx="2354211" cy="1844054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85776780" name=""/>
          <p:cNvSpPr/>
          <p:nvPr/>
        </p:nvSpPr>
        <p:spPr bwMode="auto">
          <a:xfrm rot="0" flipH="0" flipV="0">
            <a:off x="283852" y="5701510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43845206" name=""/>
          <p:cNvSpPr/>
          <p:nvPr/>
        </p:nvSpPr>
        <p:spPr bwMode="auto">
          <a:xfrm rot="5399976" flipH="0" flipV="0">
            <a:off x="982768" y="5366597"/>
            <a:ext cx="426592" cy="24323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60117899" name=""/>
          <p:cNvSpPr txBox="1"/>
          <p:nvPr/>
        </p:nvSpPr>
        <p:spPr bwMode="auto">
          <a:xfrm rot="0" flipH="0" flipV="0">
            <a:off x="923625" y="5938812"/>
            <a:ext cx="1835138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Times New Roman"/>
                <a:ea typeface="Times New Roman"/>
                <a:cs typeface="Times New Roman"/>
              </a:rPr>
              <a:t>Aligned Embedding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29199070" name=""/>
          <p:cNvSpPr txBox="1"/>
          <p:nvPr/>
        </p:nvSpPr>
        <p:spPr bwMode="auto">
          <a:xfrm rot="0" flipH="0" flipV="0">
            <a:off x="3348786" y="3936119"/>
            <a:ext cx="2905081" cy="1371960"/>
          </a:xfrm>
          <a:prstGeom prst="rect">
            <a:avLst/>
          </a:prstGeom>
          <a:noFill/>
          <a:ln w="12700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Each Node:</a:t>
            </a:r>
            <a:endParaRPr sz="1400">
              <a:latin typeface="Times New Roman"/>
              <a:cs typeface="Times New Roman"/>
            </a:endParaRPr>
          </a:p>
          <a:p>
            <a:pPr marL="239821" indent="-239821" algn="l">
              <a:buFont typeface="Arial"/>
              <a:buChar char="•"/>
              <a:defRPr/>
            </a:pPr>
            <a:r>
              <a:rPr sz="1400">
                <a:latin typeface="Times New Roman"/>
                <a:cs typeface="Times New Roman"/>
              </a:rPr>
              <a:t>ID</a:t>
            </a:r>
            <a:endParaRPr sz="1400">
              <a:latin typeface="Times New Roman"/>
              <a:cs typeface="Times New Roman"/>
            </a:endParaRPr>
          </a:p>
          <a:p>
            <a:pPr marL="239821" indent="-239821" algn="l">
              <a:buFont typeface="Arial"/>
              <a:buChar char="•"/>
              <a:defRPr/>
            </a:pPr>
            <a:r>
              <a:rPr sz="1400">
                <a:latin typeface="Times New Roman"/>
                <a:cs typeface="Times New Roman"/>
              </a:rPr>
              <a:t>Label</a:t>
            </a:r>
            <a:endParaRPr sz="1400">
              <a:latin typeface="Times New Roman"/>
              <a:cs typeface="Times New Roman"/>
            </a:endParaRPr>
          </a:p>
          <a:p>
            <a:pPr marL="239821" indent="-239821" algn="l">
              <a:buFont typeface="Arial"/>
              <a:buChar char="•"/>
              <a:defRPr/>
            </a:pPr>
            <a:r>
              <a:rPr sz="1400">
                <a:latin typeface="Times New Roman"/>
                <a:cs typeface="Times New Roman"/>
              </a:rPr>
              <a:t>Embedding (</a:t>
            </a:r>
            <a:r>
              <a:rPr sz="1400" b="1">
                <a:latin typeface="Times New Roman"/>
                <a:cs typeface="Times New Roman"/>
              </a:rPr>
              <a:t>used in operations</a:t>
            </a:r>
            <a:r>
              <a:rPr sz="1400">
                <a:latin typeface="Times New Roman"/>
                <a:cs typeface="Times New Roman"/>
              </a:rPr>
              <a:t>)</a:t>
            </a:r>
            <a:endParaRPr sz="1400">
              <a:latin typeface="Times New Roman"/>
              <a:cs typeface="Times New Roman"/>
            </a:endParaRPr>
          </a:p>
          <a:p>
            <a:pPr marL="239821" indent="-239821" algn="l">
              <a:buFont typeface="Arial"/>
              <a:buChar char="•"/>
              <a:defRPr/>
            </a:pPr>
            <a:r>
              <a:rPr sz="1400">
                <a:latin typeface="Times New Roman"/>
                <a:cs typeface="Times New Roman"/>
              </a:rPr>
              <a:t>attn_weights</a:t>
            </a:r>
            <a:endParaRPr sz="1400">
              <a:latin typeface="Times New Roman"/>
              <a:cs typeface="Times New Roman"/>
            </a:endParaRPr>
          </a:p>
          <a:p>
            <a:pPr marL="239821" indent="-239821" algn="l">
              <a:buFont typeface="Arial"/>
              <a:buChar char="•"/>
              <a:defRPr/>
            </a:pPr>
            <a:r>
              <a:rPr sz="1400">
                <a:latin typeface="Times New Roman"/>
                <a:cs typeface="Times New Roman"/>
              </a:rPr>
              <a:t>Score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90488158" name=""/>
          <p:cNvSpPr/>
          <p:nvPr/>
        </p:nvSpPr>
        <p:spPr bwMode="auto">
          <a:xfrm rot="0" flipH="0" flipV="0">
            <a:off x="129251" y="112690"/>
            <a:ext cx="1203660" cy="701779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sz="1400" b="0">
              <a:latin typeface="Times New Roman"/>
              <a:cs typeface="Times New Roman"/>
            </a:endParaRPr>
          </a:p>
        </p:txBody>
      </p:sp>
      <p:sp>
        <p:nvSpPr>
          <p:cNvPr id="1198344344" name=""/>
          <p:cNvSpPr/>
          <p:nvPr/>
        </p:nvSpPr>
        <p:spPr bwMode="auto">
          <a:xfrm rot="0" flipH="0" flipV="0">
            <a:off x="1409889" y="372464"/>
            <a:ext cx="297538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95159772" name=""/>
          <p:cNvSpPr/>
          <p:nvPr/>
        </p:nvSpPr>
        <p:spPr bwMode="auto">
          <a:xfrm rot="0" flipH="0" flipV="0">
            <a:off x="1841195" y="273207"/>
            <a:ext cx="423316" cy="380743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35471570" name=""/>
          <p:cNvSpPr txBox="1"/>
          <p:nvPr/>
        </p:nvSpPr>
        <p:spPr bwMode="auto">
          <a:xfrm rot="0" flipH="0" flipV="0">
            <a:off x="2152055" y="234800"/>
            <a:ext cx="2554444" cy="4575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Times New Roman"/>
                <a:ea typeface="Times New Roman"/>
                <a:cs typeface="Times New Roman"/>
              </a:rPr>
              <a:t>Embeddings for candidate relations</a:t>
            </a:r>
            <a:endParaRPr sz="1200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</a:t>
            </a:r>
            <a:r>
              <a:rPr lang="en-US" sz="12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"near", "mounted on"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...]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1562032278" name=""/>
          <p:cNvSpPr/>
          <p:nvPr/>
        </p:nvSpPr>
        <p:spPr bwMode="auto">
          <a:xfrm rot="5399976" flipH="0" flipV="0">
            <a:off x="1857275" y="993362"/>
            <a:ext cx="391155" cy="19840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529942" name=""/>
          <p:cNvSpPr/>
          <p:nvPr/>
        </p:nvSpPr>
        <p:spPr bwMode="auto">
          <a:xfrm rot="0" flipH="0" flipV="0">
            <a:off x="510718" y="986724"/>
            <a:ext cx="7960016" cy="4545927"/>
          </a:xfrm>
          <a:prstGeom prst="rect">
            <a:avLst/>
          </a:prstGeom>
          <a:noFill/>
          <a:ln w="38100" cap="flat" cmpd="sng" algn="ctr">
            <a:solidFill>
              <a:srgbClr val="548235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/>
              <a:t>S</a:t>
            </a:r>
            <a:endParaRPr/>
          </a:p>
        </p:txBody>
      </p:sp>
      <p:sp>
        <p:nvSpPr>
          <p:cNvPr id="1655348921" name=""/>
          <p:cNvSpPr txBox="1"/>
          <p:nvPr/>
        </p:nvSpPr>
        <p:spPr bwMode="auto">
          <a:xfrm rot="0" flipH="0" flipV="0">
            <a:off x="366296" y="606645"/>
            <a:ext cx="3938009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ea typeface="Times New Roman"/>
                <a:cs typeface="Times New Roman"/>
              </a:rPr>
              <a:t>For </a:t>
            </a:r>
            <a:r>
              <a:rPr sz="1600" b="1">
                <a:solidFill>
                  <a:schemeClr val="accent2">
                    <a:lumMod val="75000"/>
                  </a:schemeClr>
                </a:solidFill>
                <a:latin typeface="Times New Roman"/>
                <a:ea typeface="Times New Roman"/>
                <a:cs typeface="Times New Roman"/>
              </a:rPr>
              <a:t>Relation_label</a:t>
            </a:r>
            <a:r>
              <a:rPr sz="1600">
                <a:latin typeface="Times New Roman"/>
                <a:ea typeface="Times New Roman"/>
                <a:cs typeface="Times New Roman"/>
              </a:rPr>
              <a:t> in </a:t>
            </a:r>
            <a:r>
              <a:rPr lang="en-US" sz="1600" b="1" i="0" u="none" strike="noStrike" cap="none" spc="0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</a:rPr>
              <a:t>Candidates relation</a:t>
            </a:r>
            <a:r>
              <a:rPr sz="1600" b="1">
                <a:solidFill>
                  <a:schemeClr val="accent2"/>
                </a:solidFill>
                <a:latin typeface="Times New Roman"/>
                <a:cs typeface="Times New Roman"/>
              </a:rPr>
              <a:t>s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1507235935" name=""/>
          <p:cNvSpPr/>
          <p:nvPr/>
        </p:nvSpPr>
        <p:spPr bwMode="auto">
          <a:xfrm rot="0" flipH="0" flipV="0">
            <a:off x="923032" y="1328734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19128755" name=""/>
          <p:cNvSpPr txBox="1"/>
          <p:nvPr/>
        </p:nvSpPr>
        <p:spPr bwMode="auto">
          <a:xfrm rot="0" flipH="0" flipV="0">
            <a:off x="1535436" y="1555024"/>
            <a:ext cx="2151003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Aligned Embedding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index [0, </a:t>
            </a:r>
            <a:r>
              <a:rPr sz="1400" b="1">
                <a:solidFill>
                  <a:schemeClr val="accent2"/>
                </a:solidFill>
                <a:latin typeface="Times New Roman"/>
                <a:cs typeface="Times New Roman"/>
              </a:rPr>
              <a:t>relation_label</a:t>
            </a:r>
            <a:r>
              <a:rPr sz="1400">
                <a:latin typeface="Times New Roman"/>
                <a:cs typeface="Times New Roman"/>
              </a:rPr>
              <a:t>]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1729689" name=""/>
          <p:cNvSpPr/>
          <p:nvPr/>
        </p:nvSpPr>
        <p:spPr bwMode="auto">
          <a:xfrm rot="0" flipH="0" flipV="0">
            <a:off x="1061736" y="2457899"/>
            <a:ext cx="232853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01696105" name=""/>
          <p:cNvSpPr/>
          <p:nvPr/>
        </p:nvSpPr>
        <p:spPr bwMode="auto">
          <a:xfrm rot="10800000" flipH="0" flipV="0">
            <a:off x="1945816" y="2299834"/>
            <a:ext cx="482122" cy="825043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39272"/>
            </a:avLst>
          </a:prstGeom>
          <a:solidFill>
            <a:schemeClr val="tx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32312819" name=""/>
          <p:cNvSpPr/>
          <p:nvPr/>
        </p:nvSpPr>
        <p:spPr bwMode="auto">
          <a:xfrm rot="0" flipH="0" flipV="0">
            <a:off x="802397" y="4163784"/>
            <a:ext cx="733038" cy="680356"/>
          </a:xfrm>
          <a:prstGeom prst="cube">
            <a:avLst>
              <a:gd name="adj" fmla="val 25000"/>
            </a:avLst>
          </a:prstGeom>
          <a:solidFill>
            <a:schemeClr val="tx1">
              <a:lumMod val="75000"/>
              <a:lumOff val="2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20713163" name=""/>
          <p:cNvSpPr txBox="1"/>
          <p:nvPr/>
        </p:nvSpPr>
        <p:spPr bwMode="auto">
          <a:xfrm rot="0" flipH="0" flipV="0">
            <a:off x="335371" y="4844140"/>
            <a:ext cx="1667091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Pair context</a:t>
            </a:r>
            <a:endParaRPr sz="11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[4096]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470894221" name=""/>
          <p:cNvSpPr txBox="1"/>
          <p:nvPr/>
        </p:nvSpPr>
        <p:spPr bwMode="auto">
          <a:xfrm rot="0" flipH="0" flipV="0">
            <a:off x="2610578" y="3257292"/>
            <a:ext cx="2431498" cy="1067159"/>
          </a:xfrm>
          <a:prstGeom prst="rect">
            <a:avLst/>
          </a:prstGeom>
          <a:solidFill>
            <a:schemeClr val="accent2">
              <a:alpha val="99999"/>
            </a:schemeClr>
          </a:solidFill>
          <a:ln w="19050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Cosine similarity </a:t>
            </a:r>
            <a:endParaRPr sz="16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calculation</a:t>
            </a:r>
            <a:r>
              <a:rPr sz="1600">
                <a:latin typeface="Times New Roman"/>
                <a:cs typeface="Times New Roman"/>
              </a:rPr>
              <a:t> for </a:t>
            </a:r>
            <a:endParaRPr sz="16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retrieval score</a:t>
            </a:r>
            <a:br>
              <a:rPr sz="1600" u="sng">
                <a:latin typeface="Times New Roman"/>
                <a:ea typeface="Times New Roman"/>
                <a:cs typeface="Times New Roman"/>
              </a:rPr>
            </a:br>
            <a:r>
              <a:rPr sz="1600" u="sng">
                <a:latin typeface="Times New Roman"/>
                <a:ea typeface="Times New Roman"/>
                <a:cs typeface="Times New Roman"/>
              </a:rPr>
              <a:t>(relation score)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2108747894" name=""/>
          <p:cNvSpPr/>
          <p:nvPr/>
        </p:nvSpPr>
        <p:spPr bwMode="auto">
          <a:xfrm rot="2611531" flipH="0" flipV="0">
            <a:off x="1942051" y="3470363"/>
            <a:ext cx="57659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89014723" name=""/>
          <p:cNvSpPr/>
          <p:nvPr/>
        </p:nvSpPr>
        <p:spPr bwMode="auto">
          <a:xfrm rot="19403571" flipH="0" flipV="0">
            <a:off x="1920757" y="3985854"/>
            <a:ext cx="584712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172629800" name=""/>
          <p:cNvSpPr/>
          <p:nvPr/>
        </p:nvSpPr>
        <p:spPr bwMode="auto">
          <a:xfrm rot="0" flipH="0" flipV="0">
            <a:off x="5136428" y="3493507"/>
            <a:ext cx="3211285" cy="594729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ysDot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IF Score &gt; 0.55 :</a:t>
            </a:r>
            <a:endParaRPr lang="en-US" sz="1400" b="0" i="0" u="none" strike="noStrike" cap="none" spc="0">
              <a:solidFill>
                <a:schemeClr val="tx1">
                  <a:lumMod val="90000"/>
                  <a:lumOff val="5000"/>
                </a:schemeClr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	</a:t>
            </a: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Add </a:t>
            </a:r>
            <a:r>
              <a:rPr lang="en-US" sz="1400" b="1" i="0" u="none" strike="noStrike" cap="none" spc="0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</a:rPr>
              <a:t>Vertice </a:t>
            </a:r>
            <a:r>
              <a:rPr lang="en-US" sz="1400" b="0" i="0" u="none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in </a:t>
            </a:r>
            <a:r>
              <a:rPr lang="en-US" sz="1400" b="1" i="0" u="sng" strike="noStrike" cap="none" spc="0">
                <a:solidFill>
                  <a:schemeClr val="tx1">
                    <a:lumMod val="90000"/>
                    <a:lumOff val="5000"/>
                  </a:schemeClr>
                </a:solidFill>
                <a:latin typeface="Times New Roman"/>
                <a:ea typeface="Times New Roman"/>
                <a:cs typeface="Times New Roman"/>
              </a:rPr>
              <a:t>Final Graph</a:t>
            </a:r>
            <a:endParaRPr sz="1400" b="0" i="0" u="none" strike="noStrike" cap="none" spc="0">
              <a:solidFill>
                <a:schemeClr val="tx1">
                  <a:lumMod val="90000"/>
                  <a:lumOff val="5000"/>
                </a:schemeClr>
              </a:solidFill>
              <a:latin typeface="Times New Roman"/>
              <a:cs typeface="Times New Roman"/>
            </a:endParaRPr>
          </a:p>
        </p:txBody>
      </p:sp>
      <p:sp>
        <p:nvSpPr>
          <p:cNvPr id="1461103968" name=""/>
          <p:cNvSpPr/>
          <p:nvPr/>
        </p:nvSpPr>
        <p:spPr bwMode="auto">
          <a:xfrm rot="0" flipH="0" flipV="0">
            <a:off x="8648569" y="3025776"/>
            <a:ext cx="522532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9568677" name=""/>
          <p:cNvSpPr/>
          <p:nvPr/>
        </p:nvSpPr>
        <p:spPr bwMode="auto">
          <a:xfrm rot="0" flipH="0" flipV="0">
            <a:off x="9382950" y="2543257"/>
            <a:ext cx="253998" cy="235855"/>
          </a:xfrm>
          <a:prstGeom prst="flowChartConnector">
            <a:avLst/>
          </a:prstGeom>
          <a:solidFill>
            <a:schemeClr val="accent4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4136826" name=""/>
          <p:cNvSpPr/>
          <p:nvPr/>
        </p:nvSpPr>
        <p:spPr bwMode="auto">
          <a:xfrm rot="0" flipH="0" flipV="0">
            <a:off x="10017877" y="2222042"/>
            <a:ext cx="253998" cy="235855"/>
          </a:xfrm>
          <a:prstGeom prst="flowChartConnector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2556005" name=""/>
          <p:cNvSpPr/>
          <p:nvPr/>
        </p:nvSpPr>
        <p:spPr bwMode="auto">
          <a:xfrm rot="0" flipH="0" flipV="0">
            <a:off x="10034012" y="3124876"/>
            <a:ext cx="253998" cy="235855"/>
          </a:xfrm>
          <a:prstGeom prst="flowChartConnector">
            <a:avLst/>
          </a:prstGeom>
          <a:solidFill>
            <a:schemeClr val="tx2">
              <a:lumMod val="40000"/>
              <a:lumOff val="6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73221640" name=""/>
          <p:cNvSpPr/>
          <p:nvPr/>
        </p:nvSpPr>
        <p:spPr bwMode="auto">
          <a:xfrm rot="0" flipH="0" flipV="0">
            <a:off x="9563364" y="3826088"/>
            <a:ext cx="253998" cy="235855"/>
          </a:xfrm>
          <a:prstGeom prst="flowChartConnector">
            <a:avLst/>
          </a:prstGeom>
          <a:solidFill>
            <a:schemeClr val="bg1">
              <a:lumMod val="6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02013914" name=""/>
          <p:cNvSpPr/>
          <p:nvPr/>
        </p:nvSpPr>
        <p:spPr bwMode="auto">
          <a:xfrm rot="0" flipH="0" flipV="0">
            <a:off x="10739982" y="2104114"/>
            <a:ext cx="253998" cy="235855"/>
          </a:xfrm>
          <a:prstGeom prst="flowChartConnector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8628236" name=""/>
          <p:cNvSpPr/>
          <p:nvPr/>
        </p:nvSpPr>
        <p:spPr bwMode="auto">
          <a:xfrm rot="0" flipH="0" flipV="0">
            <a:off x="10612982" y="3006948"/>
            <a:ext cx="253998" cy="235855"/>
          </a:xfrm>
          <a:prstGeom prst="flowChartConnector">
            <a:avLst/>
          </a:prstGeom>
          <a:solidFill>
            <a:schemeClr val="accent6">
              <a:lumMod val="7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41005775" name=""/>
          <p:cNvSpPr/>
          <p:nvPr/>
        </p:nvSpPr>
        <p:spPr bwMode="auto">
          <a:xfrm rot="0" flipH="0" flipV="0">
            <a:off x="10485983" y="3672943"/>
            <a:ext cx="253998" cy="235855"/>
          </a:xfrm>
          <a:prstGeom prst="flowChartConnector">
            <a:avLst/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0817448" name=""/>
          <p:cNvSpPr/>
          <p:nvPr/>
        </p:nvSpPr>
        <p:spPr bwMode="auto">
          <a:xfrm rot="2700000" flipH="0" flipV="0">
            <a:off x="9597732" y="2839397"/>
            <a:ext cx="476249" cy="177426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93290230" name=""/>
          <p:cNvSpPr/>
          <p:nvPr/>
        </p:nvSpPr>
        <p:spPr bwMode="auto">
          <a:xfrm rot="2700000" flipH="0" flipV="0">
            <a:off x="10212350" y="2618895"/>
            <a:ext cx="476249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50060894" name=""/>
          <p:cNvSpPr/>
          <p:nvPr/>
        </p:nvSpPr>
        <p:spPr bwMode="auto">
          <a:xfrm rot="20362837" flipH="0" flipV="0">
            <a:off x="9623988" y="2354223"/>
            <a:ext cx="374647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43130970" name=""/>
          <p:cNvSpPr/>
          <p:nvPr/>
        </p:nvSpPr>
        <p:spPr bwMode="auto">
          <a:xfrm rot="16199999" flipH="0" flipV="0">
            <a:off x="9948288" y="2690400"/>
            <a:ext cx="374646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30974899" name=""/>
          <p:cNvSpPr/>
          <p:nvPr/>
        </p:nvSpPr>
        <p:spPr bwMode="auto">
          <a:xfrm rot="0" flipH="0" flipV="0">
            <a:off x="10307252" y="2150392"/>
            <a:ext cx="374646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51066871" name=""/>
          <p:cNvSpPr/>
          <p:nvPr/>
        </p:nvSpPr>
        <p:spPr bwMode="auto">
          <a:xfrm rot="16641566" flipH="0" flipV="0">
            <a:off x="10544316" y="2540453"/>
            <a:ext cx="538321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77638664" name=""/>
          <p:cNvSpPr/>
          <p:nvPr/>
        </p:nvSpPr>
        <p:spPr bwMode="auto">
          <a:xfrm rot="16641566" flipH="0" flipV="0">
            <a:off x="10485007" y="3375212"/>
            <a:ext cx="393784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09338489" name=""/>
          <p:cNvSpPr/>
          <p:nvPr/>
        </p:nvSpPr>
        <p:spPr bwMode="auto">
          <a:xfrm rot="20714750" flipH="0" flipV="0">
            <a:off x="10302222" y="3071263"/>
            <a:ext cx="296505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6399278" name=""/>
          <p:cNvSpPr/>
          <p:nvPr/>
        </p:nvSpPr>
        <p:spPr bwMode="auto">
          <a:xfrm rot="18278077" flipH="0" flipV="0">
            <a:off x="9665883" y="3520741"/>
            <a:ext cx="538320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58865397" name=""/>
          <p:cNvSpPr/>
          <p:nvPr/>
        </p:nvSpPr>
        <p:spPr bwMode="auto">
          <a:xfrm rot="15716853" flipH="0" flipV="0">
            <a:off x="9117635" y="3228315"/>
            <a:ext cx="974223" cy="162513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3091887" name=""/>
          <p:cNvSpPr/>
          <p:nvPr/>
        </p:nvSpPr>
        <p:spPr bwMode="auto">
          <a:xfrm rot="21056224" flipH="0" flipV="0">
            <a:off x="9891851" y="3785982"/>
            <a:ext cx="538320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5962164" name=""/>
          <p:cNvSpPr/>
          <p:nvPr/>
        </p:nvSpPr>
        <p:spPr bwMode="auto">
          <a:xfrm rot="2700000" flipH="0" flipV="0">
            <a:off x="10187659" y="3408166"/>
            <a:ext cx="388286" cy="177425"/>
          </a:xfrm>
          <a:prstGeom prst="leftRightArrow">
            <a:avLst>
              <a:gd name="adj1" fmla="val 50000"/>
              <a:gd name="adj2" fmla="val 50000"/>
            </a:avLst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07453950" name=""/>
          <p:cNvSpPr txBox="1"/>
          <p:nvPr/>
        </p:nvSpPr>
        <p:spPr bwMode="auto">
          <a:xfrm rot="0" flipH="0" flipV="0">
            <a:off x="9163771" y="4240406"/>
            <a:ext cx="1962210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1">
                <a:latin typeface="Times New Roman"/>
                <a:cs typeface="Times New Roman"/>
              </a:rPr>
              <a:t>Final scene graph</a:t>
            </a:r>
            <a:endParaRPr sz="1800" b="1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11</cp:revision>
  <dcterms:modified xsi:type="dcterms:W3CDTF">2026-03-12T02:39:47Z</dcterms:modified>
</cp:coreProperties>
</file>